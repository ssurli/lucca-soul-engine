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visite</c:v>
                </c:pt>
              </c:strCache>
            </c:strRef>
          </c:tx>
          <c:spPr>
            <a:solidFill>
              <a:srgbClr val="E7B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9</c:v>
                  </c:pt>
                  <c:pt idx="1">
                    <c:v>11</c:v>
                  </c:pt>
                  <c:pt idx="2">
                    <c:v>13</c:v>
                  </c:pt>
                  <c:pt idx="3">
                    <c:v>15</c:v>
                  </c:pt>
                  <c:pt idx="4">
                    <c:v>17</c:v>
                  </c:pt>
                  <c:pt idx="5">
                    <c:v>19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55</c:v>
                </c:pt>
                <c:pt idx="2">
                  <c:v>80</c:v>
                </c:pt>
                <c:pt idx="3">
                  <c:v>45</c:v>
                </c:pt>
                <c:pt idx="4">
                  <c:v>60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9AA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F2443"/>
        </a:solidFill>
        <a:ln>
          <a:noFill/>
        </a:ln>
        <a:effectLst/>
      </c:spPr>
    </c:plotArea>
    <c:plotVisOnly val="1"/>
    <c:dispBlanksAs val="span"/>
  </c:chart>
  <c:spPr>
    <a:solidFill>
      <a:srgbClr val="2F244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Soul Pass</c:v>
                </c:pt>
              </c:strCache>
            </c:strRef>
          </c:tx>
          <c:spPr>
            <a:solidFill>
              <a:srgbClr val="D973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240</c:v>
                </c:pt>
                <c:pt idx="2">
                  <c:v>720</c:v>
                </c:pt>
                <c:pt idx="3">
                  <c:v>1760</c:v>
                </c:pt>
                <c:pt idx="4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Marketplace 15%</c:v>
                </c:pt>
              </c:strCache>
            </c:strRef>
          </c:tx>
          <c:spPr>
            <a:solidFill>
              <a:srgbClr val="E7B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75</c:v>
                </c:pt>
                <c:pt idx="2">
                  <c:v>225</c:v>
                </c:pt>
                <c:pt idx="3">
                  <c:v>600</c:v>
                </c:pt>
                <c:pt idx="4">
                  <c:v>1350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5A9B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29</c:v>
                </c:pt>
                <c:pt idx="2">
                  <c:v>84</c:v>
                </c:pt>
                <c:pt idx="3">
                  <c:v>192</c:v>
                </c:pt>
                <c:pt idx="4">
                  <c:v>384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Hospitality</c:v>
                </c:pt>
              </c:strCache>
            </c:strRef>
          </c:tx>
          <c:spPr>
            <a:solidFill>
              <a:srgbClr val="8FB0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18</c:v>
                </c:pt>
                <c:pt idx="1">
                  <c:v>48</c:v>
                </c:pt>
                <c:pt idx="2">
                  <c:v>132</c:v>
                </c:pt>
                <c:pt idx="3">
                  <c:v>312</c:v>
                </c:pt>
                <c:pt idx="4">
                  <c:v>660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 / B2G</c:v>
                </c:pt>
              </c:strCache>
            </c:strRef>
          </c:tx>
          <c:spPr>
            <a:solidFill>
              <a:srgbClr val="B85A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60</c:v>
                </c:pt>
                <c:pt idx="2">
                  <c:v>180</c:v>
                </c:pt>
                <c:pt idx="3">
                  <c:v>420</c:v>
                </c:pt>
                <c:pt idx="4">
                  <c:v>900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API / Dati</c:v>
                </c:pt>
              </c:strCache>
            </c:strRef>
          </c:tx>
          <c:spPr>
            <a:solidFill>
              <a:srgbClr val="6E64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120</c:v>
                </c:pt>
                <c:pt idx="4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CC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57A93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57A93"/>
                    </a:solidFill>
                    <a:latin typeface="Arial"/>
                  </a:rPr>
                  <a:t>ricavi (€ migliaia)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A405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D9734D"/>
            </a:solidFill>
            <a:ln w="31750" cap="flat">
              <a:solidFill>
                <a:srgbClr val="D973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9734D"/>
              </a:solidFill>
              <a:ln w="9525" cap="flat">
                <a:solidFill>
                  <a:srgbClr val="D973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  <c:pt idx="3">
                    <c:v>Anno 4</c:v>
                  </c:pt>
                  <c:pt idx="4">
                    <c:v>Anno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-345</c:v>
                </c:pt>
                <c:pt idx="1">
                  <c:v>-328</c:v>
                </c:pt>
                <c:pt idx="2">
                  <c:v>30</c:v>
                </c:pt>
                <c:pt idx="3">
                  <c:v>804</c:v>
                </c:pt>
                <c:pt idx="4">
                  <c:v>2294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57A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70448" y="420624"/>
            <a:ext cx="2514600" cy="1539690"/>
          </a:xfrm>
          <a:custGeom>
            <a:avLst/>
            <a:gdLst/>
            <a:ahLst/>
            <a:cxnLst/>
            <a:rect l="l" t="t" r="r" b="b"/>
            <a:pathLst>
              <a:path w="2514600" h="1539690">
                <a:moveTo>
                  <a:pt x="1775559" y="0"/>
                </a:moveTo>
                <a:lnTo>
                  <a:pt x="2234474" y="114707"/>
                </a:lnTo>
                <a:lnTo>
                  <a:pt x="2514600" y="659603"/>
                </a:lnTo>
                <a:lnTo>
                  <a:pt x="2122071" y="1217587"/>
                </a:lnTo>
                <a:lnTo>
                  <a:pt x="1870611" y="1383103"/>
                </a:lnTo>
                <a:lnTo>
                  <a:pt x="1398369" y="1539690"/>
                </a:lnTo>
                <a:lnTo>
                  <a:pt x="739041" y="1482413"/>
                </a:lnTo>
                <a:lnTo>
                  <a:pt x="196390" y="1288258"/>
                </a:lnTo>
                <a:lnTo>
                  <a:pt x="0" y="714724"/>
                </a:lnTo>
                <a:lnTo>
                  <a:pt x="293454" y="308862"/>
                </a:lnTo>
                <a:lnTo>
                  <a:pt x="1116231" y="156586"/>
                </a:lnTo>
                <a:close/>
              </a:path>
            </a:pathLst>
          </a:custGeom>
          <a:ln w="25400">
            <a:solidFill>
              <a:srgbClr val="47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5598" y="350215"/>
            <a:ext cx="140818" cy="14081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4" name="Shape 2"/>
          <p:cNvSpPr/>
          <p:nvPr/>
        </p:nvSpPr>
        <p:spPr>
          <a:xfrm>
            <a:off x="8034513" y="464922"/>
            <a:ext cx="140818" cy="14081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5" name="Shape 3"/>
          <p:cNvSpPr/>
          <p:nvPr/>
        </p:nvSpPr>
        <p:spPr>
          <a:xfrm>
            <a:off x="8314639" y="1009818"/>
            <a:ext cx="140818" cy="14081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" name="Shape 4"/>
          <p:cNvSpPr/>
          <p:nvPr/>
        </p:nvSpPr>
        <p:spPr>
          <a:xfrm>
            <a:off x="7922110" y="1567802"/>
            <a:ext cx="140818" cy="140818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7" name="Shape 5"/>
          <p:cNvSpPr/>
          <p:nvPr/>
        </p:nvSpPr>
        <p:spPr>
          <a:xfrm>
            <a:off x="7670650" y="1733318"/>
            <a:ext cx="140818" cy="14081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8" name="Shape 6"/>
          <p:cNvSpPr/>
          <p:nvPr/>
        </p:nvSpPr>
        <p:spPr>
          <a:xfrm>
            <a:off x="7198408" y="1889905"/>
            <a:ext cx="140818" cy="14081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9" name="Shape 7"/>
          <p:cNvSpPr/>
          <p:nvPr/>
        </p:nvSpPr>
        <p:spPr>
          <a:xfrm>
            <a:off x="6539080" y="1832628"/>
            <a:ext cx="140818" cy="14081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0" name="Shape 8"/>
          <p:cNvSpPr/>
          <p:nvPr/>
        </p:nvSpPr>
        <p:spPr>
          <a:xfrm>
            <a:off x="5996429" y="1638473"/>
            <a:ext cx="140818" cy="140818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1" name="Shape 9"/>
          <p:cNvSpPr/>
          <p:nvPr/>
        </p:nvSpPr>
        <p:spPr>
          <a:xfrm>
            <a:off x="5800039" y="1064939"/>
            <a:ext cx="140818" cy="14081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3493" y="659077"/>
            <a:ext cx="140818" cy="14081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3" name="Shape 11"/>
          <p:cNvSpPr/>
          <p:nvPr/>
        </p:nvSpPr>
        <p:spPr>
          <a:xfrm>
            <a:off x="6916270" y="506802"/>
            <a:ext cx="140818" cy="14081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658368"/>
            <a:ext cx="59436" cy="59436"/>
          </a:xfrm>
          <a:prstGeom prst="ellipse">
            <a:avLst/>
          </a:prstGeom>
          <a:solidFill>
            <a:srgbClr val="473A6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1298448"/>
            <a:ext cx="59436" cy="59436"/>
          </a:xfrm>
          <a:prstGeom prst="ellipse">
            <a:avLst/>
          </a:prstGeom>
          <a:solidFill>
            <a:srgbClr val="473A60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7320" y="1874520"/>
            <a:ext cx="59436" cy="59436"/>
          </a:xfrm>
          <a:prstGeom prst="ellipse">
            <a:avLst/>
          </a:prstGeom>
          <a:solidFill>
            <a:srgbClr val="473A6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566928"/>
            <a:ext cx="59436" cy="59436"/>
          </a:xfrm>
          <a:prstGeom prst="ellipse">
            <a:avLst/>
          </a:prstGeom>
          <a:solidFill>
            <a:srgbClr val="473A6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1051560"/>
            <a:ext cx="59436" cy="59436"/>
          </a:xfrm>
          <a:prstGeom prst="ellipse">
            <a:avLst/>
          </a:prstGeom>
          <a:solidFill>
            <a:srgbClr val="473A6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PLATFORM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24028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 Lab</a:t>
            </a:r>
            <a:endParaRPr lang="en-US" sz="6600" dirty="0"/>
          </a:p>
        </p:txBody>
      </p:sp>
      <p:sp>
        <p:nvSpPr>
          <p:cNvPr id="21" name="Text 19"/>
          <p:cNvSpPr/>
          <p:nvPr/>
        </p:nvSpPr>
        <p:spPr>
          <a:xfrm>
            <a:off x="6858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Experience Layer for Urban Digital Twins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«Le Smart City raccolgono dati.  Le città intelligenti generano significato.»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" y="4343400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233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Cities Become Experiences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4233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Portfolio  ·  v1.1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tutte le app turistiche rispondono a una domanda: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«Cosa posso vedere?»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la cambiamo in: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«Chi vuoi diventare oggi?»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Sembra una frase di marketing. Tecnicamente cambia completamente il prodotto: non un catalogo di monumenti, ma un motore che orchestra la città — turismo, cultura, mobilità, commercio, sostenibilità e partecipazione che dialogano in tempo reale.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0" name="Shape 8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1" name="Shape 9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2" name="Shape 10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Shape 11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5" name="Shape 13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7" name="Shape 15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8" name="Shape 16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93408" y="274320"/>
            <a:ext cx="1719072" cy="1052588"/>
          </a:xfrm>
          <a:custGeom>
            <a:avLst/>
            <a:gdLst/>
            <a:ahLst/>
            <a:cxnLst/>
            <a:rect l="l" t="t" r="r" b="b"/>
            <a:pathLst>
              <a:path w="1719072" h="1052588">
                <a:moveTo>
                  <a:pt x="1213837" y="0"/>
                </a:moveTo>
                <a:lnTo>
                  <a:pt x="1527567" y="78418"/>
                </a:lnTo>
                <a:lnTo>
                  <a:pt x="1719072" y="450929"/>
                </a:lnTo>
                <a:lnTo>
                  <a:pt x="1450725" y="832386"/>
                </a:lnTo>
                <a:lnTo>
                  <a:pt x="1278818" y="945540"/>
                </a:lnTo>
                <a:lnTo>
                  <a:pt x="955976" y="1052588"/>
                </a:lnTo>
                <a:lnTo>
                  <a:pt x="505235" y="1013432"/>
                </a:lnTo>
                <a:lnTo>
                  <a:pt x="134260" y="880700"/>
                </a:lnTo>
                <a:lnTo>
                  <a:pt x="0" y="488611"/>
                </a:lnTo>
                <a:lnTo>
                  <a:pt x="200616" y="211149"/>
                </a:lnTo>
                <a:lnTo>
                  <a:pt x="763096" y="107048"/>
                </a:lnTo>
                <a:close/>
              </a:path>
            </a:pathLst>
          </a:custGeom>
          <a:ln w="16510">
            <a:solidFill>
              <a:srgbClr val="E5DC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1525" y="22860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6" name="Shape 4"/>
          <p:cNvSpPr/>
          <p:nvPr/>
        </p:nvSpPr>
        <p:spPr>
          <a:xfrm>
            <a:off x="8175255" y="307018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7" name="Shape 5"/>
          <p:cNvSpPr/>
          <p:nvPr/>
        </p:nvSpPr>
        <p:spPr>
          <a:xfrm>
            <a:off x="8366760" y="679529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8" name="Shape 6"/>
          <p:cNvSpPr/>
          <p:nvPr/>
        </p:nvSpPr>
        <p:spPr>
          <a:xfrm>
            <a:off x="8098413" y="1060986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9" name="Shape 7"/>
          <p:cNvSpPr/>
          <p:nvPr/>
        </p:nvSpPr>
        <p:spPr>
          <a:xfrm>
            <a:off x="7926506" y="117414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Shape 8"/>
          <p:cNvSpPr/>
          <p:nvPr/>
        </p:nvSpPr>
        <p:spPr>
          <a:xfrm>
            <a:off x="7603664" y="1281188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Shape 9"/>
          <p:cNvSpPr/>
          <p:nvPr/>
        </p:nvSpPr>
        <p:spPr>
          <a:xfrm>
            <a:off x="7152923" y="1242032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2" name="Shape 10"/>
          <p:cNvSpPr/>
          <p:nvPr/>
        </p:nvSpPr>
        <p:spPr>
          <a:xfrm>
            <a:off x="6781948" y="1109300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7688" y="717211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48304" y="439749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10784" y="335648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sfida &amp; la visione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1755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siamo / Cosa siamo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20939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20939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quattro anime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24323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2432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Lucca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2770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Smart City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tassonomia congelata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3447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3447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Esperienziale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3785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AI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4123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41239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&amp; RAG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4462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0120" y="4462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70916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663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Index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709160" y="1755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16636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Memory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709160" y="20939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166360" y="20939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VISIONE ALLA PROVA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709160" y="24323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166360" y="2432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stato costruito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709160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166360" y="2770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vincoli e i loro test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70916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16636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bug che nessun test vedeva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709160" y="3447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166360" y="3447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limiti dichiarati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709160" y="3785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16636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Esperienze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709160" y="41239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166360" y="41239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Roadmap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709160" y="4462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166360" y="4462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Vision 2040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8" name="Shape 56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9" name="Shape 57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0" name="Shape 58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1" name="Shape 59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2" name="Shape 60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3" name="Shape 61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4" name="Shape 62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5" name="Shape 63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6" name="Shape 64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7" name="Shape 65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8" name="Text 66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SFIDA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turismo di oggi crea valore che non trattiene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39112"/>
            <a:ext cx="566928" cy="56692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92" y="219785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Overtourism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flussi si concentrano su pochi luoghi e poche ore: Mura, Anfiteatro, Torre Guinigi.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2587752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43784" y="2039112"/>
            <a:ext cx="566928" cy="566928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524" y="219785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0632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Mordi e fuggi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770632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 visitatori restano una sola giornata — vedono, fotografano, mangiano e ripartono.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4672584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28616" y="2039112"/>
            <a:ext cx="566928" cy="56692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56" y="219785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55464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Esperienze standard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55464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Migliaia di guide identiche. Il territorio — botteghe, artigiani, musica — resta invisibile.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757416" y="1783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3448" y="2039112"/>
            <a:ext cx="566928" cy="566928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188" y="219785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0296" y="27157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Impatto non misurabile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40296" y="31546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valutare l'effetto reale delle politiche turistiche su spesa e distribuzione.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aggiunto non è portare più turisti.  </a:t>
            </a:r>
            <a:pPr algn="l" indent="0" marL="0">
              <a:buNone/>
            </a:pPr>
            <a:r>
              <a:rPr lang="en-US" sz="130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far vivere la città in modo diverso — aumentando tempo di permanenza e spesa.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7" name="Shape 21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8" name="Shape 22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Shape 23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4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5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26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27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28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29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0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Text 31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guardare al partecipare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0" y="868680"/>
            <a:ext cx="822960" cy="-32004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48640"/>
            <a:ext cx="731520" cy="45720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-914400" cy="3657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371600"/>
            <a:ext cx="1097280" cy="1371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82296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Shape 7"/>
          <p:cNvSpPr/>
          <p:nvPr/>
        </p:nvSpPr>
        <p:spPr>
          <a:xfrm>
            <a:off x="7726680" y="50292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Shape 8"/>
          <p:cNvSpPr/>
          <p:nvPr/>
        </p:nvSpPr>
        <p:spPr>
          <a:xfrm>
            <a:off x="8458200" y="960120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1325880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146304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 ·  passivo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196596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9659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532888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328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09981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9981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66744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6674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andare via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8920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DOMANI  ·  partecipativo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96596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029968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251" y="2117019"/>
            <a:ext cx="136794" cy="13679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40680" y="19659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stupirsi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città che ti sorprende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92040" y="2532888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29" name="Shape 26"/>
          <p:cNvSpPr/>
          <p:nvPr/>
        </p:nvSpPr>
        <p:spPr>
          <a:xfrm>
            <a:off x="5029200" y="2596896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51" y="2683947"/>
            <a:ext cx="136794" cy="13679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440680" y="253288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artigiani e musicisti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892040" y="3099816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3" name="Shape 29"/>
          <p:cNvSpPr/>
          <p:nvPr/>
        </p:nvSpPr>
        <p:spPr>
          <a:xfrm>
            <a:off x="5029200" y="3163824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51" y="3250875"/>
            <a:ext cx="136794" cy="13679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440680" y="30998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connettersi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persone e luoghi vivi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4892040" y="3666744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7" name="Shape 32"/>
          <p:cNvSpPr/>
          <p:nvPr/>
        </p:nvSpPr>
        <p:spPr>
          <a:xfrm>
            <a:off x="5029200" y="3730752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251" y="3817803"/>
            <a:ext cx="136794" cy="13679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440680" y="366674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tornare  </a:t>
            </a:r>
            <a:pPr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percorso mai uguale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36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37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38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9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40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1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2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3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4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5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Text 46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4" name="Text 4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RISPOSTA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Experience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la migliore guida di Lucca — quel mercato è saturo. Un sistema operativo delle esperienze: una piattaforma AI che non racconta la città, la orchestra.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comprende quattro cose in tempo reale: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615184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768803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è il visitatore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interessi, gruppo, ritmo, stanchezza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587752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25496" y="2615184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115" y="2768803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0632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desidera vivere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70632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cosa vedere: che emozione cerca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672584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10328" y="2615184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47" y="276880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55464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cambia la città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55464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meteo, affollamento, eventi, flussi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757416" y="2377440"/>
            <a:ext cx="1920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95160" y="2615184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779" y="2768803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0296" y="3291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genera valore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940296" y="3675888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sociale ed economico locale</a:t>
            </a:r>
            <a:endParaRPr lang="en-US" sz="980" dirty="0"/>
          </a:p>
        </p:txBody>
      </p:sp>
      <p:sp>
        <p:nvSpPr>
          <p:cNvPr id="26" name="Text 20"/>
          <p:cNvSpPr/>
          <p:nvPr/>
        </p:nvSpPr>
        <p:spPr>
          <a:xfrm>
            <a:off x="502920" y="431596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funziona a Lucca, lo stesso motore si replica a Siena, Mantova, Urbino, Ferrara — </a:t>
            </a:r>
            <a:pPr indent="0" marL="0">
              <a:buNone/>
            </a:pPr>
            <a:r>
              <a:rPr lang="en-US" sz="125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solo il contenuto locale, la tecnologia resta identica.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Shape 23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4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5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26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27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28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29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0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1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2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Text 33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Lucca è il contesto ideale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12064" cy="51206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8" y="15606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99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Patrimonio compatto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8872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murata, camminabile: un ecosistema denso e misurabile in pochi km².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075688"/>
            <a:ext cx="512064" cy="51206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8" y="2219066"/>
            <a:ext cx="225308" cy="2253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Turismo internazionale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88720" y="2350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Flussi consistenti da USA, Germania, Francia, UK, Paesi Bassi.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734056"/>
            <a:ext cx="512064" cy="51206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8" y="2877434"/>
            <a:ext cx="225308" cy="2253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157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Identità culturale forte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88720" y="30083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Puccini, Comics &amp; Games, Summer Festival, cicloturismo sulle Mura.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392424"/>
            <a:ext cx="512064" cy="512064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8" y="3535802"/>
            <a:ext cx="225308" cy="2253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3741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Percorso Smart City avviato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88720" y="36667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contesto pronto a integrare dati urbani e cultura.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40680" y="1417320"/>
            <a:ext cx="3200400" cy="2788920"/>
          </a:xfrm>
          <a:prstGeom prst="roundRect">
            <a:avLst>
              <a:gd name="adj" fmla="val 3279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66928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 GRANDE PER CONTARE,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 PICCOLA PER VINCERE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669280" y="2286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~1,5M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6903720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visitatori l'anno (stima flussi)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669280" y="290779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gg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6903720" y="29809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permanenza media da abbattere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669280" y="352958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903720" y="36027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città-gemelle per la replica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4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5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26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27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28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29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0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1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2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3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Text 34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layer esperienziale della Smart City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Smart City investono in sensori, mobilità e sicurezza. Lucca Soul aggiunge la dimensione mancante: cultura ed esperienza.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1840" y="173736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31A30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DATA 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194560"/>
            <a:ext cx="0" cy="201168"/>
          </a:xfrm>
          <a:prstGeom prst="line">
            <a:avLst/>
          </a:prstGeom>
          <a:noFill/>
          <a:ln w="19050">
            <a:solidFill>
              <a:srgbClr val="E5DC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5448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39572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3957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194560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194560"/>
            <a:ext cx="74980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807208"/>
            <a:ext cx="0" cy="182880"/>
          </a:xfrm>
          <a:prstGeom prst="line">
            <a:avLst/>
          </a:prstGeom>
          <a:noFill/>
          <a:ln w="19050">
            <a:solidFill>
              <a:srgbClr val="E5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99008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5A9B9C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447288"/>
            <a:ext cx="0" cy="201168"/>
          </a:xfrm>
          <a:prstGeom prst="line">
            <a:avLst/>
          </a:prstGeom>
          <a:noFill/>
          <a:ln w="19050">
            <a:solidFill>
              <a:srgbClr val="E5DC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364845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D9734D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80160" y="36484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3447288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364845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E7B25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0" y="36484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 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447288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64845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8FB09A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36484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3447288"/>
            <a:ext cx="0" cy="201168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447288"/>
            <a:ext cx="457200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4105656"/>
            <a:ext cx="0" cy="164592"/>
          </a:xfrm>
          <a:prstGeom prst="line">
            <a:avLst/>
          </a:prstGeom>
          <a:noFill/>
          <a:ln w="15240">
            <a:solidFill>
              <a:srgbClr val="E5DC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AI  →  Turisti · Musei · Hotel · Artigiani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8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40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41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43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44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5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6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Text 47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solo lo spazio fisico. L'anima della città.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86200" cy="2880360"/>
          </a:xfrm>
          <a:prstGeom prst="roundRect">
            <a:avLst>
              <a:gd name="adj" fmla="val 3175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DIGITAL TWIN TRADIZIONALE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 lo spazio fisico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edifici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460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illuminazione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898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mobilità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14600" y="2898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parcheggi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28269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sensori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328269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telecamere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6667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infrastrutture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3886200" cy="2880360"/>
          </a:xfrm>
          <a:prstGeom prst="roundRect">
            <a:avLst>
              <a:gd name="adj" fmla="val 3175"/>
            </a:avLst>
          </a:prstGeom>
          <a:solidFill>
            <a:srgbClr val="3B2E55"/>
          </a:solidFill>
          <a:ln w="16510">
            <a:solidFill>
              <a:srgbClr val="D973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AGGIUNGE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121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dimensione umana ed esperienziale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2587752"/>
            <a:ext cx="73152" cy="7315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8" name="Text 16"/>
          <p:cNvSpPr/>
          <p:nvPr/>
        </p:nvSpPr>
        <p:spPr>
          <a:xfrm>
            <a:off x="5148072" y="25146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2587752"/>
            <a:ext cx="73152" cy="7315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25146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2953512"/>
            <a:ext cx="73152" cy="73152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22" name="Text 20"/>
          <p:cNvSpPr/>
          <p:nvPr/>
        </p:nvSpPr>
        <p:spPr>
          <a:xfrm>
            <a:off x="5148072" y="2880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2953512"/>
            <a:ext cx="73152" cy="73152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2880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artigianato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3319272"/>
            <a:ext cx="73152" cy="7315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32461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3319272"/>
            <a:ext cx="73152" cy="7315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8" name="Text 26"/>
          <p:cNvSpPr/>
          <p:nvPr/>
        </p:nvSpPr>
        <p:spPr>
          <a:xfrm>
            <a:off x="6931152" y="32461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83480" y="3685032"/>
            <a:ext cx="73152" cy="73152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30" name="Text 28"/>
          <p:cNvSpPr/>
          <p:nvPr/>
        </p:nvSpPr>
        <p:spPr>
          <a:xfrm>
            <a:off x="5148072" y="36118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narrazioni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0" y="3685032"/>
            <a:ext cx="73152" cy="73152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36118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accessibilità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83480" y="4050792"/>
            <a:ext cx="73152" cy="7315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Text 32"/>
          <p:cNvSpPr/>
          <p:nvPr/>
        </p:nvSpPr>
        <p:spPr>
          <a:xfrm>
            <a:off x="5148072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emozioni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66560" y="4050792"/>
            <a:ext cx="73152" cy="7315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36" name="Text 34"/>
          <p:cNvSpPr/>
          <p:nvPr/>
        </p:nvSpPr>
        <p:spPr>
          <a:xfrm>
            <a:off x="6931152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8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40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41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43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44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5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6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Text 47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 Lab non è…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 il perimetro per esclusione è tanto importante quanto definirlo per inclusione. Ognuna di queste categorie è un prodotto legittimo. Nessuna descrive ciò che stiamo costruendo.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737360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guida turistica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cataloga e descrive; noi componiamo e decidiamo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73736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737360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l'LLM è un componente: dialoga, non sceglie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304288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semplice app AI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l'app è un contatto; il prodotto è il motore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30428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304288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3042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marketplace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è una funzione, non l'identità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71216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871216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87121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navigatore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il percorso più breve: il più significativo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871216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2871216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87121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social network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un grafo sociale: un grafo di conoscenza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38144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BF3E3"/>
          </a:solidFill>
          <a:ln w="16510">
            <a:solidFill>
              <a:srgbClr val="D97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438144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43814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pubblicitaria  </a:t>
            </a:r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nessuno spazio è acquistabile. Mai.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Siamo la catena:   città → dati → conoscenza → persone → esperienze → decisioni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9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31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32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4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5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6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Text 37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quattro anime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aree di prodotto: i quattro punti di vista da cui la piattaforma guarda la città.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0738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Soul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2219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· Musei · Musica · Storia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587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patrimonio riconosciuto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92024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207385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Soul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2219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Comunità · Persone · Tradizioni · Memoria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46320" y="2587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patrimonio NON riconosciuto — il più fragile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02920" y="3154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353689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355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Soul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17320" y="36850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Knowledge Graph · Digital Twin · IoT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31520" y="4050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l'infrastruttura cognitiva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17720" y="3154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3383280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9" y="353689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355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Soul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32120" y="36850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· Accessibilità · Inclusione · Mobilità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846320" y="4050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vincolo che orienta le decisioni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quattro anime non convivono per equilibrio retorico: sono i quattro assi su cui l'Ethical AI Engine calcola ogni decisione.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26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27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28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29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0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1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2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3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4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5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Text 36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tassonomia: dove ci collochiamo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Separiamo tre funzioni che nei sistemi urbani esistenti sono confuse: rappresentare la città, ragionare su di essa, interagire con le persone.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200400" cy="2926080"/>
          </a:xfrm>
          <a:prstGeom prst="roundRect">
            <a:avLst>
              <a:gd name="adj" fmla="val 312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470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DIGITAL TWIN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presupposto — non è il nostro prodotto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DOVE sono le persone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4343400" cy="2926080"/>
          </a:xfrm>
          <a:prstGeom prst="roundRect">
            <a:avLst>
              <a:gd name="adj" fmla="val 3125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18470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COGNITIVE LAYER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084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nostro perimetro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24505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2596896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1" name="Text 19"/>
          <p:cNvSpPr/>
          <p:nvPr/>
        </p:nvSpPr>
        <p:spPr>
          <a:xfrm>
            <a:off x="4718304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Experience 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37960" y="24505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9400" y="2596896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4" name="Text 22"/>
          <p:cNvSpPr/>
          <p:nvPr/>
        </p:nvSpPr>
        <p:spPr>
          <a:xfrm>
            <a:off x="6775704" y="24505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Knowledge Graph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80560" y="29077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3054096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27" name="Text 25"/>
          <p:cNvSpPr/>
          <p:nvPr/>
        </p:nvSpPr>
        <p:spPr>
          <a:xfrm>
            <a:off x="4718304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Experience Engine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37960" y="29077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9400" y="3054096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30" name="Text 28"/>
          <p:cNvSpPr/>
          <p:nvPr/>
        </p:nvSpPr>
        <p:spPr>
          <a:xfrm>
            <a:off x="6775704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Engine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80560" y="33649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3511296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33649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Index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37960" y="33649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B2E55"/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3511296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36" name="Text 34"/>
          <p:cNvSpPr/>
          <p:nvPr/>
        </p:nvSpPr>
        <p:spPr>
          <a:xfrm>
            <a:off x="6775704" y="33649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Memory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80560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CHE COSA stanno vivendo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46817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divario è il nostro perimetro.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40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41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43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44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5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6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7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8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Text 49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FOSSATO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Memory: la città che ricorda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città non sono spazi. Sono memoria collettiva. La parte più fragile — i racconti degli anziani, i saperi artigiani, il dialetto, le botteghe che chiudono — non è digitalizzata e si sta perdendo.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48256"/>
            <a:ext cx="384048" cy="384048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13" y="2155789"/>
            <a:ext cx="168981" cy="1689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97480" y="2048256"/>
            <a:ext cx="384048" cy="384048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013" y="2155789"/>
            <a:ext cx="168981" cy="168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177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0" y="2048256"/>
            <a:ext cx="384048" cy="384048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413" y="2155789"/>
            <a:ext cx="168981" cy="1689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75120" y="187452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12280" y="2048256"/>
            <a:ext cx="384048" cy="38404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813" y="2155789"/>
            <a:ext cx="168981" cy="1689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18745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mestieri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29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0080" y="2916936"/>
            <a:ext cx="384048" cy="384048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13" y="3024469"/>
            <a:ext cx="168981" cy="16898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ricette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5603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697480" y="2916936"/>
            <a:ext cx="384048" cy="384048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5013" y="3024469"/>
            <a:ext cx="168981" cy="16898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1546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dialetto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177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754880" y="2916936"/>
            <a:ext cx="384048" cy="384048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2413" y="3024469"/>
            <a:ext cx="168981" cy="16898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120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testimonianze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675120" y="2743200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812280" y="2916936"/>
            <a:ext cx="384048" cy="38404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9813" y="3024469"/>
            <a:ext cx="168981" cy="16898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269480" y="27432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tradizioni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02920" y="3657600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 w="15240">
            <a:solidFill>
              <a:srgbClr val="D9734D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685800" y="36576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esperienza vissuta alimenta la memoria.  Chi ascolta un anziano o fotografa una bottega non consuma contenuto: ne produce.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un archivio da riempire una volta. Un organismo che cresce con l'uso — ed è contenuto che nessun concorrente può acquisire dall'esterno.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32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33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34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5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6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37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38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39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0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1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Text 42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3" name="Text 43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4" name="Text 44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ADATTIVITÀ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città che si riscrive in tempo reale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Digital Twin riceve un segnale dal mondo reale. L'AI ricalcola l'esperienza — qualcosa che nessuna guida cartacea può fare.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03504" cy="60350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221" y="2226381"/>
            <a:ext cx="265542" cy="265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93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08760" y="2295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Piove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953512"/>
            <a:ext cx="20116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L'AI RISPONDE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7724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all'aperto si trasforma: dentro una bottega di liuteria, un laboratorio, un museo poco visitato.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78308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2057400"/>
            <a:ext cx="603504" cy="60350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421" y="2226381"/>
            <a:ext cx="265542" cy="2655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2093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251960" y="2295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Mura sono affollate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520440" y="2953512"/>
            <a:ext cx="20116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204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L'AI RISPONDE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52044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Villa Bottini, un giardino nascosto o un artigiano — distribuendo i flussi.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89320" y="178308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2057400"/>
            <a:ext cx="603504" cy="60350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621" y="2226381"/>
            <a:ext cx="265542" cy="26554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5160" y="2093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995160" y="2295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 stanco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263640" y="2953512"/>
            <a:ext cx="2011680" cy="0"/>
          </a:xfrm>
          <a:prstGeom prst="line">
            <a:avLst/>
          </a:prstGeom>
          <a:noFill/>
          <a:ln w="12700">
            <a:solidFill>
              <a:srgbClr val="E5DCC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636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L'AI RISPONDE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263640" y="3264408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«Vedo che oggi hai camminato molto. Ti porto in un giardino silenzioso.» Il profilo cambia durante la giornata.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Control Room cittadina — parcheggi, traffico, qualità dell'aria, trasporto pubblico, presenze — il motore genera esperienze dinamiche. Questa è vera Smart City.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27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28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29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30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1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2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3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4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5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6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Text 37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livelli, un motore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un solo LLM. Una pila di livelli con ruoli distinti — così il sistema è sorprendente, spiegabile e sostenibile.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BF3E3"/>
          </a:solidFill>
          <a:ln w="16510">
            <a:solidFill>
              <a:srgbClr val="E7B25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484632" cy="484632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29" y="1882201"/>
            <a:ext cx="213238" cy="213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190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Engine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vero brevetto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4760" y="171907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tempo, meteo, età, stanchezza, interessi, affollamento, luoghi già visti → costruisce un'esperienza, non un elenco.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42316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2523744"/>
            <a:ext cx="484632" cy="484632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29" y="2659441"/>
            <a:ext cx="213238" cy="213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4963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Conversazionale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Dialoga, non decide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794760" y="249631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Racconta, spiega, personalizza in più lingue. Intercambiabile (Claude, GPT, Llama, Mistral, modelli locali).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2920" y="320040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3232" y="3300984"/>
            <a:ext cx="484632" cy="484632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" y="3436681"/>
            <a:ext cx="213238" cy="213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273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3716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 dai comportamenti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794760" y="327355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classico: «chi ha scelto il percorso artistico si è fermato di più qui…». Il modello di Netflix.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13232" y="4078224"/>
            <a:ext cx="484632" cy="484632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" y="4213921"/>
            <a:ext cx="213238" cy="213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050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3716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 sulle relazioni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794760" y="405079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un database: un grafo che collega luoghi, artisti, botteghe. Permette percorsi sorprendenti.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5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26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27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28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29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0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1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2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3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4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Text 35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L'AI ragiona per connessioni, non per categorie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1463040" cy="-59436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1600200"/>
            <a:ext cx="1371600" cy="6858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286000"/>
            <a:ext cx="1554480" cy="-73152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1554480"/>
            <a:ext cx="1280160" cy="82296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2377440"/>
            <a:ext cx="1188720" cy="-6858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94560"/>
            <a:ext cx="1828800" cy="11430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3337560"/>
            <a:ext cx="2103120" cy="4572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286000"/>
            <a:ext cx="1097280" cy="109728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3383280"/>
            <a:ext cx="1463040" cy="18288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554480"/>
            <a:ext cx="-457200" cy="1828800"/>
          </a:xfrm>
          <a:prstGeom prst="line">
            <a:avLst/>
          </a:prstGeom>
          <a:noFill/>
          <a:ln w="15240">
            <a:solidFill>
              <a:srgbClr val="473A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2093976"/>
            <a:ext cx="201168" cy="20116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" y="2313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Puccini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68296" y="1499616"/>
            <a:ext cx="201168" cy="201168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00200" y="17190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39896" y="2185416"/>
            <a:ext cx="201168" cy="20116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71800" y="24048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del Giglio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94376" y="1453896"/>
            <a:ext cx="201168" cy="201168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16733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musicale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74536" y="2276856"/>
            <a:ext cx="201168" cy="20116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liutaio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63256" y="1591056"/>
            <a:ext cx="201168" cy="201168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95160" y="18105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34056" y="3236976"/>
            <a:ext cx="201168" cy="201168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65960" y="3456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37176" y="3282696"/>
            <a:ext cx="201168" cy="20116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69080" y="35021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bottega storica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0216" y="3465576"/>
            <a:ext cx="201168" cy="20116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127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32120" y="3685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turista che ama Puccini può finire nel laboratorio di un liutaio a vedere nascere un violino. Nessuna categoria lo avrebbe mai suggerito.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33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4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5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8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40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41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Text 43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APPRENDE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Intelligente senza costi di riaddestramento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8452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2029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1520" y="248716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«alleniamo» un LLM — costa moltissimo. Ogni risposta è costruita al volo su dati aggiornati: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163824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3108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547872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4930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eventi &amp; artisti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3931920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38770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del visitatore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14630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0" y="169164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79" y="184525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623560" y="2029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 l'algoritmo, non il modello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937760" y="24871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interazione è un dato. Il sistema migliora le raccomandazioni con l'uso: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83480" y="306324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83480" y="3063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90488" y="306324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90488" y="3063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397496" y="306324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97496" y="3063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983480" y="356616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83480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190488" y="356616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90488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397496" y="356616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B25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97496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ritorno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2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3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4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5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6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7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38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39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0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41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Text 42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algoritmo che ottimizza il valore urbano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040880" y="868680"/>
            <a:ext cx="822960" cy="-32004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48640"/>
            <a:ext cx="731520" cy="45720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005840"/>
            <a:ext cx="-914400" cy="3657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371600"/>
            <a:ext cx="1097280" cy="137160"/>
          </a:xfrm>
          <a:prstGeom prst="line">
            <a:avLst/>
          </a:prstGeom>
          <a:noFill/>
          <a:ln w="12700">
            <a:solidFill>
              <a:srgbClr val="47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82296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Shape 7"/>
          <p:cNvSpPr/>
          <p:nvPr/>
        </p:nvSpPr>
        <p:spPr>
          <a:xfrm>
            <a:off x="7818120" y="502920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Shape 8"/>
          <p:cNvSpPr/>
          <p:nvPr/>
        </p:nvSpPr>
        <p:spPr>
          <a:xfrm>
            <a:off x="8549640" y="960120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325880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1463040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173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AI for Urban Experiences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ottimizza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pubblicità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88920" y="2697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5661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219456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27685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9530" y="2358786"/>
            <a:ext cx="128748" cy="1287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041648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dei visitatori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72200" y="219456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28" name="Shape 25"/>
          <p:cNvSpPr/>
          <p:nvPr/>
        </p:nvSpPr>
        <p:spPr>
          <a:xfrm>
            <a:off x="6263640" y="227685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570" y="2358786"/>
            <a:ext cx="128748" cy="12874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647688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valorizzazione dell'artigianato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566160" y="274320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32" name="Shape 28"/>
          <p:cNvSpPr/>
          <p:nvPr/>
        </p:nvSpPr>
        <p:spPr>
          <a:xfrm>
            <a:off x="3657600" y="282549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530" y="2907426"/>
            <a:ext cx="128748" cy="1287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041648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inclusione ed equità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72200" y="274320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36" name="Shape 31"/>
          <p:cNvSpPr/>
          <p:nvPr/>
        </p:nvSpPr>
        <p:spPr>
          <a:xfrm>
            <a:off x="6263640" y="282549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570" y="2907426"/>
            <a:ext cx="128748" cy="12874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647688" y="2743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accessibili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566160" y="329184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40" name="Shape 34"/>
          <p:cNvSpPr/>
          <p:nvPr/>
        </p:nvSpPr>
        <p:spPr>
          <a:xfrm>
            <a:off x="3657600" y="337413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530" y="3456066"/>
            <a:ext cx="128748" cy="1287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041648" y="3291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sostenibilità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72200" y="329184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B2E55"/>
          </a:solidFill>
          <a:ln/>
        </p:spPr>
      </p:sp>
      <p:sp>
        <p:nvSpPr>
          <p:cNvPr id="44" name="Shape 37"/>
          <p:cNvSpPr/>
          <p:nvPr/>
        </p:nvSpPr>
        <p:spPr>
          <a:xfrm>
            <a:off x="6263640" y="3374136"/>
            <a:ext cx="292608" cy="292608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570" y="3456066"/>
            <a:ext cx="128748" cy="12874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647688" y="3291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spiegabilità delle scelte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2F2443"/>
          </a:solidFill>
          <a:ln/>
        </p:spPr>
      </p:sp>
      <p:sp>
        <p:nvSpPr>
          <p:cNvPr id="48" name="Shape 40"/>
          <p:cNvSpPr/>
          <p:nvPr/>
        </p:nvSpPr>
        <p:spPr>
          <a:xfrm>
            <a:off x="658368" y="4261104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19" y="4348155"/>
            <a:ext cx="136794" cy="13679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097280" y="41605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Perfettamente coerente con gli obiettivi ESG e con la privacy by design — un fattore differenziante forte verso PA e programmi europei.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44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Shape 45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5" name="Shape 46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6" name="Shape 47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7" name="Shape 48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8" name="Shape 49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9" name="Shape 50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0" name="Shape 51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1" name="Shape 52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2" name="Shape 53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3" name="Text 54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64" name="Text 55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65" name="Text 5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TASSELLO MANCANTE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Intelligence Index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esperienza produce dati anonimi. Da qui nasce un indice della «salute culturale» della città — non solo economica.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2567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482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3774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reale delle esperienze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246120" y="182880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210312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339" y="22567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20482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Coinvolgimento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160520" y="23774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un'esperienza appassiona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989320" y="182880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22567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20482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Soddisfazione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903720" y="23774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 recensioni aggregate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02920" y="306324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349117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Ritorno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417320" y="3611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 di visitatori che tornano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3246120" y="306324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74720" y="333756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339" y="3491179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6052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Nuovi percorsi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160520" y="3611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 emergenti e inattesi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5989320" y="306324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33756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539" y="3491179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Interesse locale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903720" y="3611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di botteghe e territorio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nuovo KPI per l'amministrazione: misurare la vitalità culturale come si misura il traffico.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0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1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2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3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34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35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36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7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8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39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Text 40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mercato delle esperienze, non della città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mette in rete chi crea cultura e gestisce disponibilità, prenotazioni, pagamenti, recensioni e statistiche.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0432" y="1965960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051" y="21195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un'esperienza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2860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6060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965960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51" y="211957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974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&amp; distribuisce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434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46634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85232" y="1965960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851" y="211957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Turista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7548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scopre &amp; prenota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4008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6720840" y="17830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42632" y="1965960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251" y="211957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812280" y="2880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 15%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0292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ENTRA IN RETE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2920" y="3749040"/>
            <a:ext cx="402336" cy="40233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" y="3861694"/>
            <a:ext cx="177028" cy="1770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20040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artigiani</a:t>
            </a:r>
            <a:endParaRPr lang="en-US" sz="880" dirty="0"/>
          </a:p>
        </p:txBody>
      </p:sp>
      <p:sp>
        <p:nvSpPr>
          <p:cNvPr id="32" name="Shape 25"/>
          <p:cNvSpPr/>
          <p:nvPr/>
        </p:nvSpPr>
        <p:spPr>
          <a:xfrm>
            <a:off x="1673352" y="3749040"/>
            <a:ext cx="402336" cy="402336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6006" y="3861694"/>
            <a:ext cx="177028" cy="1770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90472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musicisti</a:t>
            </a:r>
            <a:endParaRPr lang="en-US" sz="880" dirty="0"/>
          </a:p>
        </p:txBody>
      </p:sp>
      <p:sp>
        <p:nvSpPr>
          <p:cNvPr id="35" name="Shape 27"/>
          <p:cNvSpPr/>
          <p:nvPr/>
        </p:nvSpPr>
        <p:spPr>
          <a:xfrm>
            <a:off x="2843784" y="3749040"/>
            <a:ext cx="402336" cy="402336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6438" y="3861694"/>
            <a:ext cx="177028" cy="1770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660904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80" dirty="0"/>
          </a:p>
        </p:txBody>
      </p:sp>
      <p:sp>
        <p:nvSpPr>
          <p:cNvPr id="38" name="Shape 29"/>
          <p:cNvSpPr/>
          <p:nvPr/>
        </p:nvSpPr>
        <p:spPr>
          <a:xfrm>
            <a:off x="4014216" y="3749040"/>
            <a:ext cx="402336" cy="402336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6870" y="3861694"/>
            <a:ext cx="177028" cy="17702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831336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</a:t>
            </a:r>
            <a:endParaRPr lang="en-US" sz="880" dirty="0"/>
          </a:p>
        </p:txBody>
      </p:sp>
      <p:sp>
        <p:nvSpPr>
          <p:cNvPr id="41" name="Shape 31"/>
          <p:cNvSpPr/>
          <p:nvPr/>
        </p:nvSpPr>
        <p:spPr>
          <a:xfrm>
            <a:off x="5184648" y="3749040"/>
            <a:ext cx="402336" cy="40233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7302" y="3861694"/>
            <a:ext cx="177028" cy="17702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001768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librerie</a:t>
            </a:r>
            <a:endParaRPr lang="en-US" sz="880" dirty="0"/>
          </a:p>
        </p:txBody>
      </p:sp>
      <p:sp>
        <p:nvSpPr>
          <p:cNvPr id="44" name="Shape 33"/>
          <p:cNvSpPr/>
          <p:nvPr/>
        </p:nvSpPr>
        <p:spPr>
          <a:xfrm>
            <a:off x="6355080" y="3749040"/>
            <a:ext cx="402336" cy="402336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734" y="3861694"/>
            <a:ext cx="177028" cy="17702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172200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aziende agricole</a:t>
            </a:r>
            <a:endParaRPr lang="en-US" sz="880" dirty="0"/>
          </a:p>
        </p:txBody>
      </p:sp>
      <p:sp>
        <p:nvSpPr>
          <p:cNvPr id="47" name="Shape 35"/>
          <p:cNvSpPr/>
          <p:nvPr/>
        </p:nvSpPr>
        <p:spPr>
          <a:xfrm>
            <a:off x="7525512" y="3749040"/>
            <a:ext cx="402336" cy="402336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8166" y="3861694"/>
            <a:ext cx="177028" cy="17702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342632" y="41879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associazioni</a:t>
            </a:r>
            <a:endParaRPr lang="en-US" sz="880" dirty="0"/>
          </a:p>
        </p:txBody>
      </p:sp>
      <p:sp>
        <p:nvSpPr>
          <p:cNvPr id="50" name="Text 37"/>
          <p:cNvSpPr/>
          <p:nvPr/>
        </p:nvSpPr>
        <p:spPr>
          <a:xfrm>
            <a:off x="502920" y="45720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pubblicità: un partner compare in un percorso solo se coerente con il profilo del visitatore.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40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Shape 41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5" name="Shape 42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6" name="Shape 43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7" name="Shape 44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8" name="Shape 45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9" name="Shape 46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0" name="Shape 47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1" name="Shape 48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2" name="Shape 49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3" name="Text 50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64" name="Text 51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65" name="Text 5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visite. Esperienze.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819656"/>
            <a:ext cx="512064" cy="51206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54" y="1963034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Disegna Lucca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pittore, en plein air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1460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34056" y="1819656"/>
            <a:ext cx="512064" cy="51206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434" y="1963034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Scrivi una canzone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9748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 Mura, con un musicista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2628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45736" y="1819656"/>
            <a:ext cx="512064" cy="512064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114" y="1963034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 col produttore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0916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enogastronomia del territorio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537960" y="160020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57416" y="1819656"/>
            <a:ext cx="512064" cy="51206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794" y="1963034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181965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Fotografa l'alba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720840" y="2441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città che si sveglia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0292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2376" y="3236976"/>
            <a:ext cx="512064" cy="512064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54" y="3380354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Recita Puccini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580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scena al Teatro del Giglio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51460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34056" y="3236976"/>
            <a:ext cx="512064" cy="512064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434" y="3380354"/>
            <a:ext cx="225308" cy="2253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3756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Costruisci un mattone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269748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Lucca medievale, con le mani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52628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745736" y="3236976"/>
            <a:ext cx="512064" cy="512064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114" y="3380354"/>
            <a:ext cx="225308" cy="2253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4924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Passeggiata notturna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470916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leggende e silenzi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537960" y="301752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757416" y="3236976"/>
            <a:ext cx="512064" cy="512064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0794" y="3380354"/>
            <a:ext cx="225308" cy="2253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360920" y="32369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Racconti degli anziani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6720840" y="3858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del quartiere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6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37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38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39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0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1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42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43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Shape 44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5" name="Shape 45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6" name="Text 46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7" name="Text 47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8" name="Text 4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una guida. Una conversazione.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All'arrivo a Porta Elisa l'app non dice «a destra c'è la Torre». Chiede chi sei — e in due minuti costruisce un profilo emozionale temporaneo.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2148840" cy="2834640"/>
          </a:xfrm>
          <a:prstGeom prst="roundRect">
            <a:avLst>
              <a:gd name="adj" fmla="val 766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20240"/>
            <a:ext cx="1929384" cy="2560320"/>
          </a:xfrm>
          <a:prstGeom prst="roundRect">
            <a:avLst>
              <a:gd name="adj" fmla="val 5687"/>
            </a:avLst>
          </a:prstGeom>
          <a:solidFill>
            <a:srgbClr val="2F2443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975104"/>
            <a:ext cx="411480" cy="82296"/>
          </a:xfrm>
          <a:prstGeom prst="roundRect">
            <a:avLst>
              <a:gd name="adj" fmla="val 44444"/>
            </a:avLst>
          </a:prstGeom>
          <a:solidFill>
            <a:srgbClr val="231A3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Elisa · 10:14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Benvenuto a Lucca.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voglia di perderti?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D9734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Sì, sorprendimi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3749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Preferisco sapere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783080"/>
            <a:ext cx="2148840" cy="2834640"/>
          </a:xfrm>
          <a:prstGeom prst="roundRect">
            <a:avLst>
              <a:gd name="adj" fmla="val 766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1920240"/>
            <a:ext cx="1929384" cy="2560320"/>
          </a:xfrm>
          <a:prstGeom prst="roundRect">
            <a:avLst>
              <a:gd name="adj" fmla="val 5687"/>
            </a:avLst>
          </a:prstGeom>
          <a:solidFill>
            <a:srgbClr val="2F2443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975104"/>
            <a:ext cx="411480" cy="82296"/>
          </a:xfrm>
          <a:prstGeom prst="roundRect">
            <a:avLst>
              <a:gd name="adj" fmla="val 44444"/>
            </a:avLst>
          </a:prstGeom>
          <a:solidFill>
            <a:srgbClr val="231A3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39312" y="2240280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19" name="Shape 17"/>
          <p:cNvSpPr/>
          <p:nvPr/>
        </p:nvSpPr>
        <p:spPr>
          <a:xfrm>
            <a:off x="3730752" y="2377440"/>
            <a:ext cx="128016" cy="12801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224028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Silenzio o musica?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39312" y="277063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22" name="Shape 20"/>
          <p:cNvSpPr/>
          <p:nvPr/>
        </p:nvSpPr>
        <p:spPr>
          <a:xfrm>
            <a:off x="3730752" y="2907792"/>
            <a:ext cx="128016" cy="12801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277063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Bellezza o storie?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39312" y="3300984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0752" y="3438144"/>
            <a:ext cx="128016" cy="12801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3300984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bambini?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39312" y="3831336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3B2E55"/>
          </a:solidFill>
          <a:ln/>
        </p:spPr>
      </p:sp>
      <p:sp>
        <p:nvSpPr>
          <p:cNvPr id="28" name="Shape 26"/>
          <p:cNvSpPr/>
          <p:nvPr/>
        </p:nvSpPr>
        <p:spPr>
          <a:xfrm>
            <a:off x="3730752" y="3968496"/>
            <a:ext cx="128016" cy="12801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383133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già visto Firenze?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39312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di 2 minuti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55080" y="1783080"/>
            <a:ext cx="2148840" cy="2834640"/>
          </a:xfrm>
          <a:prstGeom prst="roundRect">
            <a:avLst>
              <a:gd name="adj" fmla="val 766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64808" y="1920240"/>
            <a:ext cx="1929384" cy="2560320"/>
          </a:xfrm>
          <a:prstGeom prst="roundRect">
            <a:avLst>
              <a:gd name="adj" fmla="val 5687"/>
            </a:avLst>
          </a:prstGeom>
          <a:solidFill>
            <a:srgbClr val="231A30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1975104"/>
            <a:ext cx="411480" cy="82296"/>
          </a:xfrm>
          <a:prstGeom prst="roundRect">
            <a:avLst>
              <a:gd name="adj" fmla="val 44444"/>
            </a:avLst>
          </a:prstGeom>
          <a:solidFill>
            <a:srgbClr val="231A30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EMOZIONALE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37960" y="245059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45059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37960" y="283464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28346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contemplativo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321868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21868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l'arte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37960" y="3602736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B2E55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360273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tempo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4652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Creo la tua giornata…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persone non faranno mai lo stesso percorso.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5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6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7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8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9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50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51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Shape 52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5" name="Shape 53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6" name="Shape 54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7" name="Text 55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63640" y="457200"/>
            <a:ext cx="2103120" cy="1287740"/>
          </a:xfrm>
          <a:custGeom>
            <a:avLst/>
            <a:gdLst/>
            <a:ahLst/>
            <a:cxnLst/>
            <a:rect l="l" t="t" r="r" b="b"/>
            <a:pathLst>
              <a:path w="2103120" h="1287740">
                <a:moveTo>
                  <a:pt x="1485013" y="0"/>
                </a:moveTo>
                <a:lnTo>
                  <a:pt x="1868832" y="95937"/>
                </a:lnTo>
                <a:lnTo>
                  <a:pt x="2103120" y="551668"/>
                </a:lnTo>
                <a:lnTo>
                  <a:pt x="1774823" y="1018345"/>
                </a:lnTo>
                <a:lnTo>
                  <a:pt x="1564511" y="1156777"/>
                </a:lnTo>
                <a:lnTo>
                  <a:pt x="1169545" y="1287740"/>
                </a:lnTo>
                <a:lnTo>
                  <a:pt x="618107" y="1239836"/>
                </a:lnTo>
                <a:lnTo>
                  <a:pt x="164254" y="1077452"/>
                </a:lnTo>
                <a:lnTo>
                  <a:pt x="0" y="597769"/>
                </a:lnTo>
                <a:lnTo>
                  <a:pt x="245434" y="258321"/>
                </a:lnTo>
                <a:lnTo>
                  <a:pt x="933575" y="130963"/>
                </a:lnTo>
                <a:close/>
              </a:path>
            </a:pathLst>
          </a:custGeom>
          <a:ln w="20320">
            <a:solidFill>
              <a:srgbClr val="47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98361" y="406908"/>
            <a:ext cx="100584" cy="100584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4" name="Shape 2"/>
          <p:cNvSpPr/>
          <p:nvPr/>
        </p:nvSpPr>
        <p:spPr>
          <a:xfrm>
            <a:off x="8082180" y="502845"/>
            <a:ext cx="100584" cy="100584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5" name="Shape 3"/>
          <p:cNvSpPr/>
          <p:nvPr/>
        </p:nvSpPr>
        <p:spPr>
          <a:xfrm>
            <a:off x="8316468" y="958576"/>
            <a:ext cx="100584" cy="100584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" name="Shape 4"/>
          <p:cNvSpPr/>
          <p:nvPr/>
        </p:nvSpPr>
        <p:spPr>
          <a:xfrm>
            <a:off x="7988171" y="1425253"/>
            <a:ext cx="100584" cy="100584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7" name="Shape 5"/>
          <p:cNvSpPr/>
          <p:nvPr/>
        </p:nvSpPr>
        <p:spPr>
          <a:xfrm>
            <a:off x="7777859" y="1563685"/>
            <a:ext cx="100584" cy="100584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8" name="Shape 6"/>
          <p:cNvSpPr/>
          <p:nvPr/>
        </p:nvSpPr>
        <p:spPr>
          <a:xfrm>
            <a:off x="7382893" y="1694648"/>
            <a:ext cx="100584" cy="100584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9" name="Shape 7"/>
          <p:cNvSpPr/>
          <p:nvPr/>
        </p:nvSpPr>
        <p:spPr>
          <a:xfrm>
            <a:off x="6831455" y="1646744"/>
            <a:ext cx="100584" cy="100584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0" name="Shape 8"/>
          <p:cNvSpPr/>
          <p:nvPr/>
        </p:nvSpPr>
        <p:spPr>
          <a:xfrm>
            <a:off x="6377602" y="1484360"/>
            <a:ext cx="100584" cy="100584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1" name="Shape 9"/>
          <p:cNvSpPr/>
          <p:nvPr/>
        </p:nvSpPr>
        <p:spPr>
          <a:xfrm>
            <a:off x="6213348" y="1004677"/>
            <a:ext cx="100584" cy="100584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8782" y="665229"/>
            <a:ext cx="100584" cy="100584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46923" y="537871"/>
            <a:ext cx="100584" cy="100584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 ·  STATO DI COSTRUZIONE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173736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visione alla prova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1371600" cy="32004"/>
          </a:xfrm>
          <a:prstGeom prst="rect">
            <a:avLst/>
          </a:prstGeom>
          <a:solidFill>
            <a:srgbClr val="D9734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346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pagine precedenti descrivono un'architettura. Le prossime mostrano un motore che esiste, gira e — soprattutto — è stato verificato contro infrastruttura reale.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«Chiunque può disegnare un'architettura etica su una slide.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Quasi nessuno può mostrare che il proprio gate ha fermato una violazione.»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2" name="Shape 20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3" name="Shape 21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4" name="Shape 22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Shape 24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8" name="Shape 26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Shape 27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DI COSTRUZIONE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Cinque wave, un motore funzionante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wave chiusa solo dopo verifica manuale contro Neo4j Aura e Neon reali — mai su dati simulati.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2084832"/>
            <a:ext cx="7498080" cy="0"/>
          </a:xfrm>
          <a:prstGeom prst="line">
            <a:avLst/>
          </a:prstGeom>
          <a:noFill/>
          <a:ln w="19050">
            <a:solidFill>
              <a:srgbClr val="E5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1984248"/>
            <a:ext cx="201168" cy="201168"/>
          </a:xfrm>
          <a:prstGeom prst="ellipse">
            <a:avLst/>
          </a:prstGeom>
          <a:solidFill>
            <a:srgbClr val="857A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84632" y="2267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25237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contratti condivisi · BFF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98064" y="1984248"/>
            <a:ext cx="201168" cy="20116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1" name="Text 9"/>
          <p:cNvSpPr/>
          <p:nvPr/>
        </p:nvSpPr>
        <p:spPr>
          <a:xfrm>
            <a:off x="2459736" y="1572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21408" y="2267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21408" y="25237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· profilo · itinerario adattivo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34840" y="1984248"/>
            <a:ext cx="201168" cy="20116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5" name="Text 13"/>
          <p:cNvSpPr/>
          <p:nvPr/>
        </p:nvSpPr>
        <p:spPr>
          <a:xfrm>
            <a:off x="4096512" y="1572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58184" y="2267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Memory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58184" y="25237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· licenze · aggancio al grafo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71616" y="1984248"/>
            <a:ext cx="201168" cy="20116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9" name="Text 17"/>
          <p:cNvSpPr/>
          <p:nvPr/>
        </p:nvSpPr>
        <p:spPr>
          <a:xfrm>
            <a:off x="5733288" y="1572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394960" y="2267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+ ML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94960" y="25237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 · recommender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08392" y="1984248"/>
            <a:ext cx="201168" cy="201168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1572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B0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31736" y="2267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Index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31736" y="25237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indicatori · dashboard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182112"/>
            <a:ext cx="8138160" cy="1243584"/>
          </a:xfrm>
          <a:prstGeom prst="roundRect">
            <a:avLst>
              <a:gd name="adj" fmla="val 7353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2735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 VERIFICATI  ·  ricontati o rieseguiti, mai stimati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" y="351129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900" dirty="0"/>
          </a:p>
        </p:txBody>
      </p:sp>
      <p:sp>
        <p:nvSpPr>
          <p:cNvPr id="29" name="Text 27"/>
          <p:cNvSpPr/>
          <p:nvPr/>
        </p:nvSpPr>
        <p:spPr>
          <a:xfrm>
            <a:off x="777240" y="3931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nel grafo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414223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relazioni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52344" y="351129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4,58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2752344" y="3931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medio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52344" y="414223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densità 0,038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27448" y="351129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508</a:t>
            </a:r>
            <a:endParaRPr lang="en-US" sz="2900" dirty="0"/>
          </a:p>
        </p:txBody>
      </p:sp>
      <p:sp>
        <p:nvSpPr>
          <p:cNvPr id="35" name="Text 33"/>
          <p:cNvSpPr/>
          <p:nvPr/>
        </p:nvSpPr>
        <p:spPr>
          <a:xfrm>
            <a:off x="4727448" y="3931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eseguiti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27448" y="414223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 ok · 0 falliti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02552" y="351129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6702552" y="3931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Python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02552" y="414223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endpoint HTTP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4498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seed del grafo è versionato e rieseguibile da zero: la città è un artefatto ricostruibile, non un archivio fragile.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41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43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44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5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6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7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8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9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50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Text 51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vincolo etico ha un test che lo difende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principio senza un test che lo protegga è una dichiarazione d'intenti. Questi tre sono in CI, e falliscono se il vincolo si rompe.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138160" cy="896112"/>
          </a:xfrm>
          <a:prstGeom prst="roundRect">
            <a:avLst>
              <a:gd name="adj" fmla="val 9184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73936"/>
            <a:ext cx="457200" cy="457200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0195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367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Visibilità non acquistabile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8928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bit-identico con e senza partner, prezzo, commissione — uguaglianza esatta su 7 varianti commerciali.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498848" y="1682496"/>
            <a:ext cx="18288" cy="640080"/>
          </a:xfrm>
          <a:prstGeom prst="rect">
            <a:avLst/>
          </a:prstGeom>
          <a:solidFill>
            <a:srgbClr val="473A60"/>
          </a:solidFill>
          <a:ln/>
        </p:spPr>
      </p:sp>
      <p:sp>
        <p:nvSpPr>
          <p:cNvPr id="11" name="Text 8"/>
          <p:cNvSpPr/>
          <p:nvPr/>
        </p:nvSpPr>
        <p:spPr>
          <a:xfrm>
            <a:off x="4681728" y="167335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trovato: il grafo mescolava «Offerta da…» dentro le connessioni che alimentano lo score. Un partner comprava punteggio senza che nessuno l'avesse progettato.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8138160" cy="896112"/>
          </a:xfrm>
          <a:prstGeom prst="roundRect">
            <a:avLst>
              <a:gd name="adj" fmla="val 9184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743200"/>
            <a:ext cx="457200" cy="45720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87121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26060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Distribuzione dei flussi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286207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recommender non deve mai aumentare la concentrazione: 4 scenari storici indipendenti.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498848" y="2651760"/>
            <a:ext cx="18288" cy="640080"/>
          </a:xfrm>
          <a:prstGeom prst="rect">
            <a:avLst/>
          </a:prstGeom>
          <a:solidFill>
            <a:srgbClr val="473A60"/>
          </a:solidFill>
          <a:ln/>
        </p:spPr>
      </p:sp>
      <p:sp>
        <p:nvSpPr>
          <p:cNvPr id="18" name="Text 14"/>
          <p:cNvSpPr/>
          <p:nvPr/>
        </p:nvSpPr>
        <p:spPr>
          <a:xfrm>
            <a:off x="4681728" y="264261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trovato: un luogo dominante per pertinenza ma a zero storico assorbiva il flusso liberato — la distribuzione peggiorava. Entropia oggi 0,783 → 0,842.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02920" y="3493008"/>
            <a:ext cx="8138160" cy="896112"/>
          </a:xfrm>
          <a:prstGeom prst="roundRect">
            <a:avLst>
              <a:gd name="adj" fmla="val 9184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3712464"/>
            <a:ext cx="457200" cy="457200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84048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5753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re-identificabilità  (k=10)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280160" y="383133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cella sotto 10 persone distinte è pubblicata, a ogni livello di dettaglio. Confine esatto 9 vs 10.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498848" y="3621024"/>
            <a:ext cx="18288" cy="640080"/>
          </a:xfrm>
          <a:prstGeom prst="rect">
            <a:avLst/>
          </a:prstGeom>
          <a:solidFill>
            <a:srgbClr val="473A60"/>
          </a:solidFill>
          <a:ln/>
        </p:spPr>
      </p:sp>
      <p:sp>
        <p:nvSpPr>
          <p:cNvPr id="25" name="Text 20"/>
          <p:cNvSpPr/>
          <p:nvPr/>
        </p:nvSpPr>
        <p:spPr>
          <a:xfrm>
            <a:off x="4681728" y="361188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trovato un bug di privacy reale — vedi pagina seguente.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02920" y="44622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valore non è che i test passino. È che, quando hanno fallito, hanno fermato qualcosa di reale.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Shape 24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5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6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27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28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29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30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1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2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3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Text 34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bug che la soppressione non poteva vedere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protezione dei dati funzionava. A tradirla era la frase che spiegava perché i dati non c'erano.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007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gate funziona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" y="22311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cella con meno di 10 persone non viene pubblicata. Corretto.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44952" y="20299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7007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1737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serve spiegare perché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10712" y="22311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restituisce un messaggio: «dato insufficiente per questo periodo…»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88152" y="20299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160020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BF3E3"/>
          </a:solidFill>
          <a:ln w="16510">
            <a:solidFill>
              <a:srgbClr val="D97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7007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1737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messaggio riusava l'errore interno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53912" y="22311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…che conteneva letteralmente il conteggio esatto delle persone coinvolte.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999232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3127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NESSUN TEST L'AVEVA VISTO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3232" y="34015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test cercava chiavi JSON tra virgolette. Il numero era dentro una frase in linguaggio naturale — invisibile a quel controllo.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" y="4023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la ricerca è a confini di token.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EFF4EF"/>
          </a:solidFill>
          <a:ln w="15240">
            <a:solidFill>
              <a:srgbClr val="8FB0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127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CORREZIONE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73752" y="34015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messaggio pubblico è costruito solo da contesto e soglia. Il conteggio delle persone non entra mai nel testo esposto.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73752" y="4023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 dal committente su infrastruttura reale.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4622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È il tipo di falla che nessuna dichiarazione di conformità intercetta, e che solo un gate ostinato trova.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9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30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31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32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33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4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5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6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Text 38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ONESTÀ DOCUMENTALE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Ciò che non garantiamo, scritto nero su bianco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che non dichiara i propri confini non è credibile davanti a un valutatore esperto. Sei limiti sono documentati nel repository, ciascuno con cosa servirebbe per chiuderlo.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9384"/>
            <a:ext cx="41148" cy="512064"/>
          </a:xfrm>
          <a:prstGeom prst="rect">
            <a:avLst/>
          </a:prstGeom>
          <a:solidFill>
            <a:srgbClr val="E7B25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8836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Distribuzione aggregata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213055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correzione è locale per richiesta: robusta su 4 scenari, non una garanzia matematica su ogni popolazione.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9384"/>
            <a:ext cx="41148" cy="512064"/>
          </a:xfrm>
          <a:prstGeom prst="rect">
            <a:avLst/>
          </a:prstGeom>
          <a:solidFill>
            <a:srgbClr val="E7B25B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8836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Tasso di ritorno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18888" y="213055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il ritorno entro il mese, non la fedeltà tra stagioni.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834640"/>
            <a:ext cx="41148" cy="512064"/>
          </a:xfrm>
          <a:prstGeom prst="rect">
            <a:avLst/>
          </a:prstGeom>
          <a:solidFill>
            <a:srgbClr val="E7B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7889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Nuovi percorsi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" y="3035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 la persistenza degli itinerari: il valore va letto come «non ancora misurato».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2688336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834640"/>
            <a:ext cx="41148" cy="512064"/>
          </a:xfrm>
          <a:prstGeom prst="rect">
            <a:avLst/>
          </a:prstGeom>
          <a:solidFill>
            <a:srgbClr val="E7B25B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27889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Flutter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18888" y="3035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Scritta secondo le convenzioni dell'app, mai compilata: verificata solo a lettura.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593592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39896"/>
            <a:ext cx="41148" cy="512064"/>
          </a:xfrm>
          <a:prstGeom prst="rect">
            <a:avLst/>
          </a:prstGeom>
          <a:solidFill>
            <a:srgbClr val="E7B25B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36941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Eventi senza finestra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4088" y="394106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recommender legge l'intera storia: un evento di prova altera subito il ranking.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3593592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2F2443"/>
          </a:solidFill>
          <a:ln w="12700">
            <a:solidFill>
              <a:srgbClr val="473A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739896"/>
            <a:ext cx="41148" cy="512064"/>
          </a:xfrm>
          <a:prstGeom prst="rect">
            <a:avLst/>
          </a:prstGeom>
          <a:solidFill>
            <a:srgbClr val="E7B25B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36941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 in lettura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18888" y="394106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 sui soli endpoint di dashboard per il viewer locale: da restringere prima di ogni deploy.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Dichiarare un limite è ciò che rende credibile tutto il resto.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30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31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32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33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4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5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6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8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Text 40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giornata si costruisce — e si riscrive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286000" cy="3246120"/>
          </a:xfrm>
          <a:prstGeom prst="roundRect">
            <a:avLst>
              <a:gd name="adj" fmla="val 720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554480"/>
            <a:ext cx="2048256" cy="2971800"/>
          </a:xfrm>
          <a:prstGeom prst="roundRect">
            <a:avLst>
              <a:gd name="adj" fmla="val 5357"/>
            </a:avLst>
          </a:prstGeom>
          <a:solidFill>
            <a:srgbClr val="2F244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tua giornata a Lucca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98448" y="2176272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499" y="2263323"/>
            <a:ext cx="136794" cy="1367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Bottega del liutaio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822960" y="2606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298448" y="2633472"/>
            <a:ext cx="310896" cy="310896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99" y="2720523"/>
            <a:ext cx="136794" cy="1367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64208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del Giglio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822960" y="3063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298448" y="3090672"/>
            <a:ext cx="310896" cy="310896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99" y="3177723"/>
            <a:ext cx="136794" cy="1367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64208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Osteria nascosta</a:t>
            </a:r>
            <a:endParaRPr lang="en-US" sz="880" dirty="0"/>
          </a:p>
        </p:txBody>
      </p:sp>
      <p:sp>
        <p:nvSpPr>
          <p:cNvPr id="19" name="Text 14"/>
          <p:cNvSpPr/>
          <p:nvPr/>
        </p:nvSpPr>
        <p:spPr>
          <a:xfrm>
            <a:off x="822960" y="35204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298448" y="3547872"/>
            <a:ext cx="310896" cy="310896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499" y="3634923"/>
            <a:ext cx="136794" cy="1367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4208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Bottini</a:t>
            </a:r>
            <a:endParaRPr lang="en-US" sz="880" dirty="0"/>
          </a:p>
        </p:txBody>
      </p:sp>
      <p:sp>
        <p:nvSpPr>
          <p:cNvPr id="23" name="Text 17"/>
          <p:cNvSpPr/>
          <p:nvPr/>
        </p:nvSpPr>
        <p:spPr>
          <a:xfrm>
            <a:off x="822960" y="39776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1298448" y="4005072"/>
            <a:ext cx="310896" cy="310896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499" y="4092123"/>
            <a:ext cx="136794" cy="13679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64208" y="3977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Tramonto sulle Mura</a:t>
            </a:r>
            <a:endParaRPr lang="en-US" sz="880" dirty="0"/>
          </a:p>
        </p:txBody>
      </p:sp>
      <p:sp>
        <p:nvSpPr>
          <p:cNvPr id="27" name="Shape 20"/>
          <p:cNvSpPr/>
          <p:nvPr/>
        </p:nvSpPr>
        <p:spPr>
          <a:xfrm>
            <a:off x="3246120" y="1417320"/>
            <a:ext cx="2286000" cy="3246120"/>
          </a:xfrm>
          <a:prstGeom prst="roundRect">
            <a:avLst>
              <a:gd name="adj" fmla="val 7200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64992" y="1554480"/>
            <a:ext cx="2048256" cy="2971800"/>
          </a:xfrm>
          <a:prstGeom prst="roundRect">
            <a:avLst>
              <a:gd name="adj" fmla="val 5357"/>
            </a:avLst>
          </a:prstGeom>
          <a:solidFill>
            <a:srgbClr val="2F2443"/>
          </a:solidFill>
          <a:ln/>
        </p:spPr>
      </p:sp>
      <p:sp>
        <p:nvSpPr>
          <p:cNvPr id="29" name="Shape 22"/>
          <p:cNvSpPr/>
          <p:nvPr/>
        </p:nvSpPr>
        <p:spPr>
          <a:xfrm>
            <a:off x="3474720" y="1691640"/>
            <a:ext cx="384048" cy="384048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2253" y="1799173"/>
            <a:ext cx="168981" cy="16898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931920" y="1691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Percorso aggiornato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3474720" y="2240280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3" name="Shape 25"/>
          <p:cNvSpPr/>
          <p:nvPr/>
        </p:nvSpPr>
        <p:spPr>
          <a:xfrm>
            <a:off x="3584448" y="2359152"/>
            <a:ext cx="109728" cy="10972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34" name="Text 26"/>
          <p:cNvSpPr/>
          <p:nvPr/>
        </p:nvSpPr>
        <p:spPr>
          <a:xfrm>
            <a:off x="3767328" y="229514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Piove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3767328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al chiuso al posto delle Mura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474720" y="2990088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37" name="Shape 29"/>
          <p:cNvSpPr/>
          <p:nvPr/>
        </p:nvSpPr>
        <p:spPr>
          <a:xfrm>
            <a:off x="3584448" y="310896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Text 30"/>
          <p:cNvSpPr/>
          <p:nvPr/>
        </p:nvSpPr>
        <p:spPr>
          <a:xfrm>
            <a:off x="3767328" y="30449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 affollate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3767328" y="32644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Villa Bottini, giardino nascosto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3474720" y="3739896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3B2E55"/>
          </a:solidFill>
          <a:ln/>
        </p:spPr>
      </p:sp>
      <p:sp>
        <p:nvSpPr>
          <p:cNvPr id="41" name="Shape 33"/>
          <p:cNvSpPr/>
          <p:nvPr/>
        </p:nvSpPr>
        <p:spPr>
          <a:xfrm>
            <a:off x="3584448" y="3858768"/>
            <a:ext cx="109728" cy="10972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42" name="Text 34"/>
          <p:cNvSpPr/>
          <p:nvPr/>
        </p:nvSpPr>
        <p:spPr>
          <a:xfrm>
            <a:off x="3767328" y="3794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camminato molto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3767328" y="40142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caffè, poi un'osteria vicina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5852160" y="1600200"/>
            <a:ext cx="2788920" cy="2880360"/>
          </a:xfrm>
          <a:prstGeom prst="roundRect">
            <a:avLst>
              <a:gd name="adj" fmla="val 3279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0807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profilo dinamico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6080760" y="2240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turista cambia durante la giornata: parte curioso, dopo tre ore è stanco. L'AI se ne accorge e adatta ritmo, distanze e tono del racconto.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08076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«Vedo che hai camminato molto. Ti porto in un giardino silenzioso.»</a:t>
            </a:r>
            <a:endParaRPr lang="en-US" sz="1250" dirty="0"/>
          </a:p>
        </p:txBody>
      </p:sp>
      <p:sp>
        <p:nvSpPr>
          <p:cNvPr id="48" name="Shape 40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2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3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44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45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Shape 46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5" name="Shape 47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6" name="Shape 48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7" name="Shape 49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8" name="Shape 50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9" name="Shape 51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0" name="Text 52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62" name="Text 54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· PUBBLICA AMMINISTRAZIONE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Comune: dati anonimi &amp; aggregati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120640" cy="3154680"/>
          </a:xfrm>
          <a:prstGeom prst="roundRect">
            <a:avLst>
              <a:gd name="adj" fmla="val 2899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· Urban Experience Analytics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F244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299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permanenza media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258568" y="19659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F2443"/>
          </a:solidFill>
          <a:ln/>
        </p:spPr>
      </p:sp>
      <p:sp>
        <p:nvSpPr>
          <p:cNvPr id="10" name="Text 8"/>
          <p:cNvSpPr/>
          <p:nvPr/>
        </p:nvSpPr>
        <p:spPr>
          <a:xfrm>
            <a:off x="2258568" y="20299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04288" y="24323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fuori dal centro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831336" y="19659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F2443"/>
          </a:solidFill>
          <a:ln/>
        </p:spPr>
      </p:sp>
      <p:sp>
        <p:nvSpPr>
          <p:cNvPr id="13" name="Text 11"/>
          <p:cNvSpPr/>
          <p:nvPr/>
        </p:nvSpPr>
        <p:spPr>
          <a:xfrm>
            <a:off x="3831336" y="20299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4.6/5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77056" y="24323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soddisfazione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85800" y="2852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DEI FLUSSI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D973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" y="310896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18" name="Shape 16"/>
          <p:cNvSpPr/>
          <p:nvPr/>
        </p:nvSpPr>
        <p:spPr>
          <a:xfrm>
            <a:off x="1453896" y="310896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3B2E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42900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E7B25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9848" y="342900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D97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453896" y="342900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74904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3B2E5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9848" y="374904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E7B25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53896" y="374904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06908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3B2E5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9848" y="406908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8FB09A"/>
          </a:solidFill>
          <a:ln/>
        </p:spPr>
      </p:sp>
      <p:sp>
        <p:nvSpPr>
          <p:cNvPr id="27" name="Shape 25"/>
          <p:cNvSpPr/>
          <p:nvPr/>
        </p:nvSpPr>
        <p:spPr>
          <a:xfrm>
            <a:off x="1453896" y="4069080"/>
            <a:ext cx="329184" cy="265176"/>
          </a:xfrm>
          <a:prstGeom prst="roundRect">
            <a:avLst>
              <a:gd name="adj" fmla="val 10345"/>
            </a:avLst>
          </a:prstGeom>
          <a:solidFill>
            <a:srgbClr val="D9734D"/>
          </a:solidFill>
          <a:ln/>
        </p:spPr>
      </p:sp>
      <p:graphicFrame>
        <p:nvGraphicFramePr>
          <p:cNvPr id="28" name="Chart 0" descr=""/>
          <p:cNvGraphicFramePr/>
          <p:nvPr/>
        </p:nvGraphicFramePr>
        <p:xfrm>
          <a:off x="2423160" y="3063240"/>
          <a:ext cx="30632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2423160" y="440740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oraria dei visitatori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89788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mercato B2G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897880" y="205740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Text 29"/>
          <p:cNvSpPr/>
          <p:nvPr/>
        </p:nvSpPr>
        <p:spPr>
          <a:xfrm>
            <a:off x="60807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concentrano i flussi tra le 11 e le 14?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97880" y="256032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Text 31"/>
          <p:cNvSpPr/>
          <p:nvPr/>
        </p:nvSpPr>
        <p:spPr>
          <a:xfrm>
            <a:off x="60807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luoghi hanno il maggior abbandono?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7880" y="306324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Text 33"/>
          <p:cNvSpPr/>
          <p:nvPr/>
        </p:nvSpPr>
        <p:spPr>
          <a:xfrm>
            <a:off x="608076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itinerari distribuiscono meglio?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97880" y="356616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Text 35"/>
          <p:cNvSpPr/>
          <p:nvPr/>
        </p:nvSpPr>
        <p:spPr>
          <a:xfrm>
            <a:off x="6080760" y="3520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eventi portano fuori dal centro?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97880" y="4069080"/>
            <a:ext cx="109728" cy="10972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Text 37"/>
          <p:cNvSpPr/>
          <p:nvPr/>
        </p:nvSpPr>
        <p:spPr>
          <a:xfrm>
            <a:off x="608076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è l'impatto economico dei percorsi?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9788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Aiuta a pianificare eventi, trasporti, segnaletica e investimenti.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1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42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43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4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5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6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7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8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49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50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Text 51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OSPITALITÀ &amp; CULTURA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ospite riceve la Lucca Soul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60" y="1896100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&amp; B&amp;B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annuale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" y="251460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0" y="2591410"/>
            <a:ext cx="120701" cy="120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871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ospite riceve un profilo esperienziale personalizzato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77240" y="301752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3094330"/>
            <a:ext cx="120701" cy="1207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990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AI h24 in più lingue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77240" y="352044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50" y="3597250"/>
            <a:ext cx="120701" cy="1207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4930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 prenotabili dalla camera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77240" y="4023360"/>
            <a:ext cx="274320" cy="274320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50" y="4100170"/>
            <a:ext cx="120701" cy="12070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995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su gusti e provenienza degli ospiti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663440" y="150876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892040" y="1737360"/>
            <a:ext cx="566928" cy="566928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780" y="1896100"/>
            <a:ext cx="249448" cy="2494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62356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Musei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56235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abbonamento partner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937760" y="251460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4570" y="2591410"/>
            <a:ext cx="120701" cy="12070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03520" y="24871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arriva, da dove, perché e quando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937760" y="301752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4570" y="3094330"/>
            <a:ext cx="120701" cy="12070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03520" y="2990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Provenienza e composizione dei gruppi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4937760" y="352044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4570" y="3597250"/>
            <a:ext cx="120701" cy="12070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03520" y="34930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che portano al museo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4937760" y="4023360"/>
            <a:ext cx="274320" cy="274320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570" y="4100170"/>
            <a:ext cx="120701" cy="120701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03520" y="3995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nei grafi di raccomandazione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28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29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30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31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32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3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4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35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36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37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Text 38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1" name="Text 39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2" name="Text 40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cinque clienti, un ecosistema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vende l'app. Si sostiene un ecosistema. Ogni cliente riceve un valore diverso dallo stesso motore.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847088"/>
            <a:ext cx="457200" cy="45720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52728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 personalizzate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04088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Soul Pass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088" y="26883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premium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246120" y="164592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EFF4EF"/>
          </a:solidFill>
          <a:ln w="16510">
            <a:solidFill>
              <a:srgbClr val="8FB09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7288" y="1847088"/>
            <a:ext cx="457200" cy="45720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97510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95928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Cittadino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995928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Riscoperta &amp; partecipazione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447288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0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47288" y="26883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la Urban Memory</a:t>
            </a:r>
            <a:endParaRPr lang="en-US" sz="820" dirty="0"/>
          </a:p>
        </p:txBody>
      </p:sp>
      <p:sp>
        <p:nvSpPr>
          <p:cNvPr id="19" name="Shape 15"/>
          <p:cNvSpPr/>
          <p:nvPr/>
        </p:nvSpPr>
        <p:spPr>
          <a:xfrm>
            <a:off x="5989320" y="164592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90488" y="1847088"/>
            <a:ext cx="457200" cy="45720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97510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39128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Operatori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739128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Visibilità coerente, prenotazioni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190488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Abbonamento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commissione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90488" y="26883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artigiani, musei, guide, botteghe</a:t>
            </a:r>
            <a:endParaRPr lang="en-US" sz="820" dirty="0"/>
          </a:p>
        </p:txBody>
      </p:sp>
      <p:sp>
        <p:nvSpPr>
          <p:cNvPr id="26" name="Shape 21"/>
          <p:cNvSpPr/>
          <p:nvPr/>
        </p:nvSpPr>
        <p:spPr>
          <a:xfrm>
            <a:off x="1874520" y="31089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075688" y="3310128"/>
            <a:ext cx="457200" cy="45720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704" y="3438144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624328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2624328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decision support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2075688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9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Licenza B2G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2075688" y="41513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flussi e politiche</a:t>
            </a:r>
            <a:endParaRPr lang="en-US" sz="820" dirty="0"/>
          </a:p>
        </p:txBody>
      </p:sp>
      <p:sp>
        <p:nvSpPr>
          <p:cNvPr id="33" name="Shape 27"/>
          <p:cNvSpPr/>
          <p:nvPr/>
        </p:nvSpPr>
        <p:spPr>
          <a:xfrm>
            <a:off x="4617720" y="31089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818888" y="3310128"/>
            <a:ext cx="457200" cy="457200"/>
          </a:xfrm>
          <a:prstGeom prst="ellipse">
            <a:avLst/>
          </a:prstGeom>
          <a:solidFill>
            <a:srgbClr val="B85A3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438144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67528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Sviluppatori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5367528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 API sopra la piattaforma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4818888" y="3858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Licenza tecnica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818888" y="41513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di terze parti</a:t>
            </a:r>
            <a:endParaRPr lang="en-US" sz="820" dirty="0"/>
          </a:p>
        </p:txBody>
      </p:sp>
      <p:sp>
        <p:nvSpPr>
          <p:cNvPr id="40" name="Text 33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Cittadino non paga: alimenta la Urban Memory ed è la condizione di sostenibilità sociale del sistema.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36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37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8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9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40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1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2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3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4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45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Text 46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554480" cy="1417320"/>
          </a:xfrm>
          <a:prstGeom prst="roundRect">
            <a:avLst>
              <a:gd name="adj" fmla="val 3226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CHIAVE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673352"/>
            <a:ext cx="138988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 &amp; Regione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Musei, artigiani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ristoratori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LLM/cloud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Associazioni culturali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1554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6733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AI &amp; grafo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partner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Curatela esperienze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103120" y="214884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219456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94560" y="2404872"/>
            <a:ext cx="138988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di partner locali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703320" y="1417320"/>
            <a:ext cx="1737360" cy="1417320"/>
          </a:xfrm>
          <a:prstGeom prst="roundRect">
            <a:avLst>
              <a:gd name="adj" fmla="val 3226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46304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OFFERTO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94760" y="1673352"/>
            <a:ext cx="157276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 uniche &amp; vive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«Chi vuoi diventare oggi?»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etica che orchestra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Replicabile in ogni città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5486400" y="1417320"/>
            <a:ext cx="1554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7840" y="16733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conversazionale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recensioni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5486400" y="214884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219456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77840" y="2404872"/>
            <a:ext cx="138988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B2C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uffici turismo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dashboard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086600" y="1417320"/>
            <a:ext cx="1554480" cy="1417320"/>
          </a:xfrm>
          <a:prstGeom prst="roundRect">
            <a:avLst>
              <a:gd name="adj" fmla="val 3226"/>
            </a:avLst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1463040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78040" y="1673352"/>
            <a:ext cx="1389888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Visitatori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B&amp;B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Musei &amp; partner</a:t>
            </a:r>
            <a:endParaRPr lang="en-US" sz="760" dirty="0"/>
          </a:p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Amministrazione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02920" y="2907792"/>
            <a:ext cx="3977640" cy="960120"/>
          </a:xfrm>
          <a:prstGeom prst="roundRect">
            <a:avLst>
              <a:gd name="adj" fmla="val 4762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953512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DEI COSTI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163824"/>
            <a:ext cx="381304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sviluppo AI · Cloud &amp; LLM · Curatela contenuti · Onboarding partner · Go-to-market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663440" y="2907792"/>
            <a:ext cx="3977640" cy="960120"/>
          </a:xfrm>
          <a:prstGeom prst="roundRect">
            <a:avLst>
              <a:gd name="adj" fmla="val 4762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953512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FLUSSI DI RICAVO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163824"/>
            <a:ext cx="381304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lnSpc>
                <a:spcPts val="950"/>
              </a:lnSpc>
              <a:spcAft>
                <a:spcPts val="100"/>
              </a:spcAft>
              <a:buSzPct val="100000"/>
              <a:buChar char="•"/>
            </a:pPr>
            <a:r>
              <a:rPr lang="en-US" sz="76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Pass B2C · Commissione marketplace 15% · Abbonamenti partner · Licenze hospitality · Dashboard B2G · API &amp; dati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Shape 31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4" name="Shape 32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5" name="Shape 33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6" name="Shape 34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5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6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8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40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Text 41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 Canvas — il visitatore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886200" cy="3017520"/>
          </a:xfrm>
          <a:prstGeom prst="roundRect">
            <a:avLst>
              <a:gd name="adj" fmla="val 3636"/>
            </a:avLst>
          </a:prstGeom>
          <a:solidFill>
            <a:srgbClr val="FBF3E3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Prodotti &amp; servizi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conversazionale · itinerari dinamici · marketplace di esperienze · assistente multilingue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creators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Sorpresa e scoperta · percorsi mai uguali · incontri autentici col territorio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456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relievers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code sui soliti luoghi · zero pianificazione · si adatta a meteo, stanchezza, tempo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886200" cy="3017520"/>
          </a:xfrm>
          <a:prstGeom prst="ellipse">
            <a:avLst/>
          </a:prstGeom>
          <a:solidFill>
            <a:srgbClr val="EFF5F4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737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Vivere una città in modo autentico e memorabile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9496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94960" y="2971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Emozione, connessione, racconti da portare a casa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9496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passivo, affollamento, esperienze standard, poco tempo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43400" y="2880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3" name="Shape 21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4" name="Shape 22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5" name="Shape 23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7" name="Shape 25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8" name="Shape 26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Shape 27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8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1" name="Shape 29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2" name="Shape 30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3" name="Text 31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ECONOMICA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Proiezione a 5 anni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(€ migliaia)</a:t>
            </a:r>
            <a:endParaRPr lang="en-US" sz="1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035040" y="1691640"/>
          <a:ext cx="26517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03504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€ 7,3M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315200" y="33924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Anno 5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03504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 3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35040" y="4251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~€0,7–0,9M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315200" y="43068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fabbisogno pre break-even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02920" y="47091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Stime illustrative su ipotesi prudenti (non consulenza finanziaria). Copertura pre break-even via grant + pre-seed.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6" name="Shape 12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7" name="Shape 13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8" name="Shape 14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9" name="Shape 15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0" name="Shape 16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1" name="Shape 17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2" name="Shape 18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3" name="Shape 19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4" name="Shape 20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5" name="Shape 21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Text 22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ECONOMICA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numeri chiave, per anno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381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234440"/>
                <a:gridCol w="1234440"/>
                <a:gridCol w="1234440"/>
                <a:gridCol w="1234440"/>
                <a:gridCol w="1234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Città attive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totali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€ 135k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€ 452k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€ 1,38M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€ 3,40M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€ 7,29M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operativi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€ 480k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€ 780k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€ 1,35M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€ 2,60M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€ 5,00M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5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–€ 345k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5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–€ 328k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€ 30k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€ 804k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€ 2,29M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Soul Pass (utenti pag.)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attivi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Assunzioni: ~1M visitatori raggiungibili a Lucca · Soul Pass € 8 medio · GMV marketplace da € 120k a € 9M · espansione 1 → 12+ città in 5 anni.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8" name="Shape 5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Shape 6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0" name="Shape 7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1" name="Shape 8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2" name="Shape 9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Shape 10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4" name="Shape 11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6" name="Shape 13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7" name="Shape 14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8" name="Text 15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 0 –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7589520" cy="0"/>
          </a:xfrm>
          <a:prstGeom prst="line">
            <a:avLst/>
          </a:prstGeom>
          <a:noFill/>
          <a:ln w="19050">
            <a:solidFill>
              <a:srgbClr val="47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39696"/>
            <a:ext cx="201168" cy="20116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417320"/>
            <a:ext cx="530352" cy="530352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187" y="1565819"/>
            <a:ext cx="233355" cy="2333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3776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Ricerca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3776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Paper, architettura, dossier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2450592" y="2139696"/>
            <a:ext cx="201168" cy="20116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1417320"/>
            <a:ext cx="530352" cy="530352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499" y="1565819"/>
            <a:ext cx="233355" cy="2333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847088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847088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motore: profilo → grafo → itinerario adattivo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3803904" y="2139696"/>
            <a:ext cx="201168" cy="201168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8" name="Shape 14"/>
          <p:cNvSpPr/>
          <p:nvPr/>
        </p:nvSpPr>
        <p:spPr>
          <a:xfrm>
            <a:off x="3639312" y="1417320"/>
            <a:ext cx="530352" cy="530352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811" y="1565819"/>
            <a:ext cx="233355" cy="2333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27832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200400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Living Lab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20040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Sperimentazione urbana reale + Urban Memory</a:t>
            </a:r>
            <a:endParaRPr lang="en-US" sz="820" dirty="0"/>
          </a:p>
        </p:txBody>
      </p:sp>
      <p:sp>
        <p:nvSpPr>
          <p:cNvPr id="23" name="Shape 18"/>
          <p:cNvSpPr/>
          <p:nvPr/>
        </p:nvSpPr>
        <p:spPr>
          <a:xfrm>
            <a:off x="5157216" y="2139696"/>
            <a:ext cx="201168" cy="201168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4" name="Shape 19"/>
          <p:cNvSpPr/>
          <p:nvPr/>
        </p:nvSpPr>
        <p:spPr>
          <a:xfrm>
            <a:off x="4992624" y="1417320"/>
            <a:ext cx="530352" cy="530352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123" y="1565819"/>
            <a:ext cx="233355" cy="23335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81144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53712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City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53712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+ dashboard e Intelligence Index</a:t>
            </a:r>
            <a:endParaRPr lang="en-US" sz="820" dirty="0"/>
          </a:p>
        </p:txBody>
      </p:sp>
      <p:sp>
        <p:nvSpPr>
          <p:cNvPr id="29" name="Shape 23"/>
          <p:cNvSpPr/>
          <p:nvPr/>
        </p:nvSpPr>
        <p:spPr>
          <a:xfrm>
            <a:off x="6510528" y="2139696"/>
            <a:ext cx="201168" cy="201168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0" name="Shape 24"/>
          <p:cNvSpPr/>
          <p:nvPr/>
        </p:nvSpPr>
        <p:spPr>
          <a:xfrm>
            <a:off x="6345936" y="1417320"/>
            <a:ext cx="530352" cy="530352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435" y="1565819"/>
            <a:ext cx="233355" cy="23335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34456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907024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 nazionale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907024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Siena · Mantova · Urbino · Ferrara</a:t>
            </a:r>
            <a:endParaRPr lang="en-US" sz="820" dirty="0"/>
          </a:p>
        </p:txBody>
      </p:sp>
      <p:sp>
        <p:nvSpPr>
          <p:cNvPr id="35" name="Shape 28"/>
          <p:cNvSpPr/>
          <p:nvPr/>
        </p:nvSpPr>
        <p:spPr>
          <a:xfrm>
            <a:off x="7863840" y="2139696"/>
            <a:ext cx="201168" cy="201168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36" name="Shape 29"/>
          <p:cNvSpPr/>
          <p:nvPr/>
        </p:nvSpPr>
        <p:spPr>
          <a:xfrm>
            <a:off x="7699248" y="1417320"/>
            <a:ext cx="530352" cy="530352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47" y="1565819"/>
            <a:ext cx="233355" cy="23335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287768" y="23957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260336" y="26334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 europea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7260336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UNESCO e destinazioni culturali</a:t>
            </a:r>
            <a:endParaRPr lang="en-US" sz="820" dirty="0"/>
          </a:p>
        </p:txBody>
      </p:sp>
      <p:sp>
        <p:nvSpPr>
          <p:cNvPr id="41" name="Text 33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non è il mercato: è il laboratorio.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36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7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8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39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0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1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2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3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44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45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Text 46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motore, infinite città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l'app di Lucca — l'infrastruttura che trasforma qualsiasi destinazione. La tecnologia resta identica, cambia solo il contenuto locale.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231A30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2505456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852928"/>
            <a:ext cx="82296" cy="8229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200400"/>
            <a:ext cx="82296" cy="8229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45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547872"/>
            <a:ext cx="82296" cy="8229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Engine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3895344"/>
            <a:ext cx="82296" cy="8229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2926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i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swap del contenuto locale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26280" y="1965960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103120"/>
            <a:ext cx="347472" cy="347472"/>
          </a:xfrm>
          <a:prstGeom prst="ellipse">
            <a:avLst/>
          </a:prstGeom>
          <a:solidFill>
            <a:srgbClr val="D9734D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0732" y="2200412"/>
            <a:ext cx="152888" cy="1528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93208" y="196596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Siena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629400" y="1965960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66560" y="2103120"/>
            <a:ext cx="347472" cy="347472"/>
          </a:xfrm>
          <a:prstGeom prst="ellipse">
            <a:avLst/>
          </a:prstGeom>
          <a:solidFill>
            <a:srgbClr val="E7B25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852" y="2200412"/>
            <a:ext cx="152888" cy="1528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96328" y="196596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Ferrara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526280" y="2715768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63440" y="2852928"/>
            <a:ext cx="347472" cy="347472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32" y="2950220"/>
            <a:ext cx="152888" cy="1528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093208" y="2715768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Mantova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629400" y="2715768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66560" y="2852928"/>
            <a:ext cx="347472" cy="347472"/>
          </a:xfrm>
          <a:prstGeom prst="ellipse">
            <a:avLst/>
          </a:prstGeom>
          <a:solidFill>
            <a:srgbClr val="8FB09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852" y="2950220"/>
            <a:ext cx="152888" cy="1528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96328" y="2715768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Urbino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4526280" y="3465576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63440" y="3602736"/>
            <a:ext cx="347472" cy="347472"/>
          </a:xfrm>
          <a:prstGeom prst="ellipse">
            <a:avLst/>
          </a:prstGeom>
          <a:solidFill>
            <a:srgbClr val="B85A38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732" y="3700028"/>
            <a:ext cx="152888" cy="1528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93208" y="3465576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Città UNESCO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629400" y="3465576"/>
            <a:ext cx="1965960" cy="621792"/>
          </a:xfrm>
          <a:prstGeom prst="roundRect">
            <a:avLst>
              <a:gd name="adj" fmla="val 13235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766560" y="3602736"/>
            <a:ext cx="347472" cy="347472"/>
          </a:xfrm>
          <a:prstGeom prst="ellipse">
            <a:avLst/>
          </a:prstGeom>
          <a:solidFill>
            <a:srgbClr val="5A9B9C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852" y="3700028"/>
            <a:ext cx="152888" cy="15288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96328" y="3465576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Borghi &amp; parchi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5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presentiamo una startup di turismo: una piattaforma di Urban Experience Intelligence.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7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8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Shape 39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8" name="Shape 40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9" name="Shape 41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0" name="Shape 42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1" name="Shape 43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2" name="Shape 44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3" name="Shape 45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4" name="Shape 46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55" name="Text 47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57" name="Text 4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competenze per partire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92808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20464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/ CEO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167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Visione, relazioni con PA e cultura, business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892808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07" y="20464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801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60520" y="2167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Architettura, backend FastAPI, cloud &amp; DevOps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989320" y="160020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0488" y="1892808"/>
            <a:ext cx="548640" cy="548640"/>
          </a:xfrm>
          <a:prstGeom prst="ellipse">
            <a:avLst/>
          </a:prstGeom>
          <a:solidFill>
            <a:srgbClr val="5A9B9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07" y="20464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801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Engineer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903720" y="2167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Graph, RAG, recommender, Ethical AI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2920" y="288036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172968"/>
            <a:ext cx="548640" cy="548640"/>
          </a:xfrm>
          <a:prstGeom prst="ellipse">
            <a:avLst/>
          </a:prstGeom>
          <a:solidFill>
            <a:srgbClr val="8FB09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" y="332658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081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/ Flutter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344728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B2C, dashboard, esperienza d'uso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46120" y="288036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47288" y="3172968"/>
            <a:ext cx="548640" cy="548640"/>
          </a:xfrm>
          <a:prstGeom prst="ellipse">
            <a:avLst/>
          </a:prstGeom>
          <a:solidFill>
            <a:srgbClr val="D97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907" y="332658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081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Community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60520" y="344728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Curatela esperienze, onboarding partner, storytelling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989320" y="2880360"/>
            <a:ext cx="2560320" cy="1143000"/>
          </a:xfrm>
          <a:prstGeom prst="roundRect">
            <a:avLst>
              <a:gd name="adj" fmla="val 7200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3172968"/>
            <a:ext cx="548640" cy="548640"/>
          </a:xfrm>
          <a:prstGeom prst="ellipse">
            <a:avLst/>
          </a:prstGeom>
          <a:solidFill>
            <a:srgbClr val="E7B25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107" y="332658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081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/ BizDev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03720" y="344728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musei, Comune, sviluppo ricavi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Advisory: turismo &amp; cultura · etica AI / GDPR · finanza &amp; bandi europei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29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0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1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2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3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34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35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36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37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38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Text 39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strategia di finanziamento a fasi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36776"/>
            <a:ext cx="118872" cy="118872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45389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Regione Toscana — PR FESR 21-27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145389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Az. 1.1.5 start-up innovative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4538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D97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perduto 90% · € 10k–100k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635240" y="145389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non diluitivo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58568"/>
            <a:ext cx="118872" cy="118872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0756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 Culture &amp; Creativity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1880" y="207568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+ NEB Academy calls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20756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 a € 60k · call fino € 500-600k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7635240" y="207568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UE · settore CCSI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02920" y="266090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880360"/>
            <a:ext cx="118872" cy="118872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6974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 Europe — Cluster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11880" y="269748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«Boosting creative startups»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26974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5A9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€ 5–6M/progetto · consorzio ≥3 Paesi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7635240" y="269748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scad. 23/09/2026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02920" y="328269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3192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Missions &amp; Digital Europe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11880" y="331927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Smart Cities · Local Digital Twin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33192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co-finanziamento via il Comune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635240" y="3319272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· pilota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02920" y="390448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7F2EB"/>
          </a:solidFill>
          <a:ln w="12700">
            <a:solidFill>
              <a:srgbClr val="E5DC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123944"/>
            <a:ext cx="118872" cy="118872"/>
          </a:xfrm>
          <a:prstGeom prst="ellipse">
            <a:avLst/>
          </a:prstGeom>
          <a:solidFill>
            <a:srgbClr val="B85A38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39410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EIC Accelerator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11880" y="3941064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4A4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scale-up con traction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06440" y="39410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B8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fino € 2,5M + equity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7635240" y="394106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UE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502920" y="45902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Strategia: grant regionali per l'MVP → EIT &amp; Horizon per R&amp;D e rete europea → EIC/VC per lo scale-up. Bandi e scadenze cambiano: verificare su Sviluppo Toscana e Funding &amp; Tenders Portal.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857A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7" name="Shape 35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8" name="Shape 36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0" name="Shape 38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2" name="Shape 40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3" name="Shape 41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5" name="Shape 43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6" name="Shape 44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47" name="Text 45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7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 2040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città avrà un Digital Twin.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 aggiungiamo ciò che manca: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l'Urban Cognitive Layer.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una persona entrerà in una città, non riceverà una mappa. Riceverà un dialogo — una città capace di comprenderla, accompagnarla e creare connessioni autentiche con il territorio.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46520" y="566928"/>
            <a:ext cx="1920240" cy="1175763"/>
          </a:xfrm>
          <a:custGeom>
            <a:avLst/>
            <a:gdLst/>
            <a:ahLst/>
            <a:cxnLst/>
            <a:rect l="l" t="t" r="r" b="b"/>
            <a:pathLst>
              <a:path w="1920240" h="1175763">
                <a:moveTo>
                  <a:pt x="1355881" y="0"/>
                </a:moveTo>
                <a:lnTo>
                  <a:pt x="1706325" y="87594"/>
                </a:lnTo>
                <a:lnTo>
                  <a:pt x="1920240" y="503697"/>
                </a:lnTo>
                <a:lnTo>
                  <a:pt x="1620491" y="929793"/>
                </a:lnTo>
                <a:lnTo>
                  <a:pt x="1428467" y="1056188"/>
                </a:lnTo>
                <a:lnTo>
                  <a:pt x="1067845" y="1175763"/>
                </a:lnTo>
                <a:lnTo>
                  <a:pt x="564359" y="1132025"/>
                </a:lnTo>
                <a:lnTo>
                  <a:pt x="149971" y="983761"/>
                </a:lnTo>
                <a:lnTo>
                  <a:pt x="0" y="545789"/>
                </a:lnTo>
                <a:lnTo>
                  <a:pt x="224092" y="235858"/>
                </a:lnTo>
                <a:lnTo>
                  <a:pt x="852395" y="119575"/>
                </a:lnTo>
                <a:close/>
              </a:path>
            </a:pathLst>
          </a:custGeom>
          <a:ln w="19050">
            <a:solidFill>
              <a:srgbClr val="47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56681" y="521208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7" name="Shape 5"/>
          <p:cNvSpPr/>
          <p:nvPr/>
        </p:nvSpPr>
        <p:spPr>
          <a:xfrm>
            <a:off x="8107125" y="608802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1024905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9" name="Shape 7"/>
          <p:cNvSpPr/>
          <p:nvPr/>
        </p:nvSpPr>
        <p:spPr>
          <a:xfrm>
            <a:off x="8021291" y="1451001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0" name="Shape 8"/>
          <p:cNvSpPr/>
          <p:nvPr/>
        </p:nvSpPr>
        <p:spPr>
          <a:xfrm>
            <a:off x="7829267" y="1577396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1" name="Shape 9"/>
          <p:cNvSpPr/>
          <p:nvPr/>
        </p:nvSpPr>
        <p:spPr>
          <a:xfrm>
            <a:off x="7468645" y="1696971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2" name="Shape 10"/>
          <p:cNvSpPr/>
          <p:nvPr/>
        </p:nvSpPr>
        <p:spPr>
          <a:xfrm>
            <a:off x="6965159" y="1653233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0771" y="1504969"/>
            <a:ext cx="91440" cy="91440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1066997"/>
            <a:ext cx="91440" cy="91440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4892" y="757066"/>
            <a:ext cx="91440" cy="91440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53195" y="640783"/>
            <a:ext cx="91440" cy="91440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0" name="Shape 18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2" name="Shape 20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Shape 24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7" name="Shape 25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3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44768" y="384048"/>
            <a:ext cx="2286000" cy="1399718"/>
          </a:xfrm>
          <a:custGeom>
            <a:avLst/>
            <a:gdLst/>
            <a:ahLst/>
            <a:cxnLst/>
            <a:rect l="l" t="t" r="r" b="b"/>
            <a:pathLst>
              <a:path w="2286000" h="1399718">
                <a:moveTo>
                  <a:pt x="1614145" y="0"/>
                </a:moveTo>
                <a:lnTo>
                  <a:pt x="2031340" y="104279"/>
                </a:lnTo>
                <a:lnTo>
                  <a:pt x="2286000" y="599639"/>
                </a:lnTo>
                <a:lnTo>
                  <a:pt x="1929155" y="1106897"/>
                </a:lnTo>
                <a:lnTo>
                  <a:pt x="1700555" y="1257366"/>
                </a:lnTo>
                <a:lnTo>
                  <a:pt x="1271245" y="1399718"/>
                </a:lnTo>
                <a:lnTo>
                  <a:pt x="671855" y="1347648"/>
                </a:lnTo>
                <a:lnTo>
                  <a:pt x="178537" y="1171144"/>
                </a:lnTo>
                <a:lnTo>
                  <a:pt x="0" y="649749"/>
                </a:lnTo>
                <a:lnTo>
                  <a:pt x="266776" y="280783"/>
                </a:lnTo>
                <a:lnTo>
                  <a:pt x="1014755" y="142351"/>
                </a:lnTo>
                <a:close/>
              </a:path>
            </a:pathLst>
          </a:custGeom>
          <a:ln w="22860">
            <a:solidFill>
              <a:srgbClr val="47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94905" y="320040"/>
            <a:ext cx="128016" cy="12801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4" name="Shape 2"/>
          <p:cNvSpPr/>
          <p:nvPr/>
        </p:nvSpPr>
        <p:spPr>
          <a:xfrm>
            <a:off x="8112100" y="424319"/>
            <a:ext cx="128016" cy="12801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5" name="Shape 3"/>
          <p:cNvSpPr/>
          <p:nvPr/>
        </p:nvSpPr>
        <p:spPr>
          <a:xfrm>
            <a:off x="8366760" y="919679"/>
            <a:ext cx="128016" cy="12801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6" name="Shape 4"/>
          <p:cNvSpPr/>
          <p:nvPr/>
        </p:nvSpPr>
        <p:spPr>
          <a:xfrm>
            <a:off x="8009915" y="1426937"/>
            <a:ext cx="128016" cy="12801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7" name="Shape 5"/>
          <p:cNvSpPr/>
          <p:nvPr/>
        </p:nvSpPr>
        <p:spPr>
          <a:xfrm>
            <a:off x="7781315" y="1577406"/>
            <a:ext cx="128016" cy="12801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8" name="Shape 6"/>
          <p:cNvSpPr/>
          <p:nvPr/>
        </p:nvSpPr>
        <p:spPr>
          <a:xfrm>
            <a:off x="7352005" y="1719758"/>
            <a:ext cx="128016" cy="12801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9" name="Shape 7"/>
          <p:cNvSpPr/>
          <p:nvPr/>
        </p:nvSpPr>
        <p:spPr>
          <a:xfrm>
            <a:off x="6752615" y="1667688"/>
            <a:ext cx="128016" cy="12801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0" name="Shape 8"/>
          <p:cNvSpPr/>
          <p:nvPr/>
        </p:nvSpPr>
        <p:spPr>
          <a:xfrm>
            <a:off x="6259297" y="1491184"/>
            <a:ext cx="128016" cy="128016"/>
          </a:xfrm>
          <a:prstGeom prst="ellipse">
            <a:avLst/>
          </a:prstGeom>
          <a:solidFill>
            <a:srgbClr val="8FB09A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969789"/>
            <a:ext cx="128016" cy="128016"/>
          </a:xfrm>
          <a:prstGeom prst="ellipse">
            <a:avLst/>
          </a:prstGeom>
          <a:solidFill>
            <a:srgbClr val="E7B25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7536" y="600823"/>
            <a:ext cx="128016" cy="128016"/>
          </a:xfrm>
          <a:prstGeom prst="ellipse">
            <a:avLst/>
          </a:prstGeom>
          <a:solidFill>
            <a:srgbClr val="5A9B9C"/>
          </a:solidFill>
          <a:ln/>
        </p:spPr>
      </p:sp>
      <p:sp>
        <p:nvSpPr>
          <p:cNvPr id="13" name="Shape 11"/>
          <p:cNvSpPr/>
          <p:nvPr/>
        </p:nvSpPr>
        <p:spPr>
          <a:xfrm>
            <a:off x="7095515" y="462391"/>
            <a:ext cx="128016" cy="128016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Lucca Soul Lab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858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Cities Become Experiences.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3108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«Le Smart City raccolgono dati. Le città intelligenti generano significato.»  Lucca è il laboratorio; il prodotto è il motore.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846320"/>
            <a:ext cx="365760" cy="223955"/>
          </a:xfrm>
          <a:custGeom>
            <a:avLst/>
            <a:gdLst/>
            <a:ahLst/>
            <a:cxnLst/>
            <a:rect l="l" t="t" r="r" b="b"/>
            <a:pathLst>
              <a:path w="365760" h="223955">
                <a:moveTo>
                  <a:pt x="258263" y="0"/>
                </a:moveTo>
                <a:lnTo>
                  <a:pt x="325014" y="16685"/>
                </a:lnTo>
                <a:lnTo>
                  <a:pt x="365760" y="95942"/>
                </a:lnTo>
                <a:lnTo>
                  <a:pt x="308665" y="177103"/>
                </a:lnTo>
                <a:lnTo>
                  <a:pt x="272089" y="201179"/>
                </a:lnTo>
                <a:lnTo>
                  <a:pt x="203399" y="223955"/>
                </a:lnTo>
                <a:lnTo>
                  <a:pt x="107497" y="215624"/>
                </a:lnTo>
                <a:lnTo>
                  <a:pt x="28566" y="187383"/>
                </a:lnTo>
                <a:lnTo>
                  <a:pt x="0" y="103960"/>
                </a:lnTo>
                <a:lnTo>
                  <a:pt x="42684" y="44925"/>
                </a:lnTo>
                <a:lnTo>
                  <a:pt x="162361" y="22776"/>
                </a:lnTo>
                <a:close/>
              </a:path>
            </a:pathLst>
          </a:custGeom>
          <a:ln w="9525">
            <a:solidFill>
              <a:srgbClr val="B9AA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981" y="4827118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732" y="484380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0" name="Shape 18"/>
          <p:cNvSpPr/>
          <p:nvPr/>
        </p:nvSpPr>
        <p:spPr>
          <a:xfrm>
            <a:off x="849478" y="4923060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92382" y="500422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2" name="Shape 20"/>
          <p:cNvSpPr/>
          <p:nvPr/>
        </p:nvSpPr>
        <p:spPr>
          <a:xfrm>
            <a:off x="755806" y="5028296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7117" y="5051072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1214" y="504274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283" y="5014501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6" name="Shape 24"/>
          <p:cNvSpPr/>
          <p:nvPr/>
        </p:nvSpPr>
        <p:spPr>
          <a:xfrm>
            <a:off x="483718" y="4931077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7" name="Shape 25"/>
          <p:cNvSpPr/>
          <p:nvPr/>
        </p:nvSpPr>
        <p:spPr>
          <a:xfrm>
            <a:off x="526402" y="4872043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078" y="4849894"/>
            <a:ext cx="38405" cy="38405"/>
          </a:xfrm>
          <a:prstGeom prst="ellipse">
            <a:avLst/>
          </a:prstGeom>
          <a:solidFill>
            <a:srgbClr val="D9734D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64" y="4791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LUCCA SOUL LAB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69264" y="4937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Experience Intelligence  ·  Concept Portfolio v1.1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Lucca Soul — Urban Experience Intelligence Platform</dc:title>
  <dc:subject>PptxGenJS Presentation</dc:subject>
  <dc:creator>Lucca Soul Lab</dc:creator>
  <cp:lastModifiedBy>Lucca Soul Lab</cp:lastModifiedBy>
  <cp:revision>1</cp:revision>
  <dcterms:created xsi:type="dcterms:W3CDTF">2026-07-22T08:27:32Z</dcterms:created>
  <dcterms:modified xsi:type="dcterms:W3CDTF">2026-07-22T08:27:32Z</dcterms:modified>
</cp:coreProperties>
</file>